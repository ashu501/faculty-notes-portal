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65" r:id="rId12"/>
    <p:sldId id="269" r:id="rId13"/>
    <p:sldId id="266" r:id="rId14"/>
    <p:sldId id="270" r:id="rId15"/>
    <p:sldId id="271" r:id="rId16"/>
    <p:sldId id="267" r:id="rId17"/>
    <p:sldId id="268" r:id="rId18"/>
    <p:sldId id="272" r:id="rId19"/>
    <p:sldId id="273" r:id="rId20"/>
    <p:sldId id="281" r:id="rId21"/>
    <p:sldId id="274" r:id="rId22"/>
    <p:sldId id="275" r:id="rId23"/>
    <p:sldId id="276" r:id="rId24"/>
    <p:sldId id="277" r:id="rId25"/>
    <p:sldId id="278" r:id="rId26"/>
    <p:sldId id="28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9920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3572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8461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5842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650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632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741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6081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492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6642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34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89E92-41A1-4292-AC2F-1A8A5CB690FA}" type="datetimeFigureOut">
              <a:rPr lang="en-US" smtClean="0"/>
              <a:pPr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DE718-4E35-4AC8-8D4C-24FBDBFC2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5983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09600" y="2590800"/>
            <a:ext cx="8001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Bookman Old Style" pitchFamily="18" charset="0"/>
              </a:rPr>
              <a:t>Understand </a:t>
            </a:r>
            <a:r>
              <a:rPr lang="en-US" sz="4000" b="1" dirty="0">
                <a:solidFill>
                  <a:srgbClr val="FF0000"/>
                </a:solidFill>
                <a:latin typeface="Bookman Old Style" pitchFamily="18" charset="0"/>
              </a:rPr>
              <a:t>various sources of Data </a:t>
            </a:r>
          </a:p>
        </p:txBody>
      </p:sp>
    </p:spTree>
    <p:extLst>
      <p:ext uri="{BB962C8B-B14F-4D97-AF65-F5344CB8AC3E}">
        <p14:creationId xmlns="" xmlns:p14="http://schemas.microsoft.com/office/powerpoint/2010/main" val="141170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9600" y="1970544"/>
            <a:ext cx="8001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ookman Old Style" pitchFamily="18" charset="0"/>
              </a:rPr>
              <a:t>Data can be generated from two types of sources namely </a:t>
            </a:r>
            <a:endParaRPr lang="en-US" sz="2800" dirty="0" smtClean="0">
              <a:latin typeface="Bookman Old Style" pitchFamily="18" charset="0"/>
            </a:endParaRPr>
          </a:p>
          <a:p>
            <a:pPr algn="ctr"/>
            <a:endParaRPr lang="en-US" sz="2800" dirty="0">
              <a:latin typeface="Bookman Old Style" pitchFamily="18" charset="0"/>
            </a:endParaRPr>
          </a:p>
          <a:p>
            <a:pPr lvl="3"/>
            <a:r>
              <a:rPr lang="en-US" sz="2800" b="1" dirty="0" smtClean="0">
                <a:solidFill>
                  <a:srgbClr val="7030A0"/>
                </a:solidFill>
                <a:latin typeface="Bookman Old Style" pitchFamily="18" charset="0"/>
              </a:rPr>
              <a:t>1. Primary </a:t>
            </a:r>
            <a:r>
              <a:rPr lang="en-US" sz="2800" b="1" dirty="0">
                <a:solidFill>
                  <a:srgbClr val="7030A0"/>
                </a:solidFill>
                <a:latin typeface="Bookman Old Style" pitchFamily="18" charset="0"/>
              </a:rPr>
              <a:t>sources of data </a:t>
            </a:r>
            <a:endParaRPr lang="en-US" sz="2800" b="1" dirty="0" smtClean="0">
              <a:solidFill>
                <a:srgbClr val="7030A0"/>
              </a:solidFill>
              <a:latin typeface="Bookman Old Style" pitchFamily="18" charset="0"/>
            </a:endParaRPr>
          </a:p>
          <a:p>
            <a:pPr marL="1885950" lvl="3" indent="-514350" algn="ctr">
              <a:buAutoNum type="arabicPeriod"/>
            </a:pPr>
            <a:endParaRPr lang="en-US" sz="2800" b="1" dirty="0" smtClean="0">
              <a:solidFill>
                <a:srgbClr val="7030A0"/>
              </a:solidFill>
              <a:latin typeface="Bookman Old Style" pitchFamily="18" charset="0"/>
            </a:endParaRPr>
          </a:p>
          <a:p>
            <a:pPr lvl="3"/>
            <a:r>
              <a:rPr lang="en-US" sz="2800" b="1" dirty="0" smtClean="0">
                <a:solidFill>
                  <a:srgbClr val="7030A0"/>
                </a:solidFill>
                <a:latin typeface="Bookman Old Style" pitchFamily="18" charset="0"/>
              </a:rPr>
              <a:t>2</a:t>
            </a:r>
            <a:r>
              <a:rPr lang="en-US" sz="2800" b="1" dirty="0">
                <a:solidFill>
                  <a:srgbClr val="7030A0"/>
                </a:solidFill>
                <a:latin typeface="Bookman Old Style" pitchFamily="18" charset="0"/>
              </a:rPr>
              <a:t>. Secondary sources of data </a:t>
            </a:r>
          </a:p>
        </p:txBody>
      </p:sp>
    </p:spTree>
    <p:extLst>
      <p:ext uri="{BB962C8B-B14F-4D97-AF65-F5344CB8AC3E}">
        <p14:creationId xmlns="" xmlns:p14="http://schemas.microsoft.com/office/powerpoint/2010/main" val="32107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9"/>
          <p:cNvSpPr txBox="1">
            <a:spLocks/>
          </p:cNvSpPr>
          <p:nvPr/>
        </p:nvSpPr>
        <p:spPr>
          <a:xfrm>
            <a:off x="685800" y="1748632"/>
            <a:ext cx="7924800" cy="38901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Primary data means ‘First-hand information’. </a:t>
            </a: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It is collected from the source of the origin. </a:t>
            </a:r>
            <a:br>
              <a:rPr lang="en-US" sz="2400" dirty="0" smtClean="0">
                <a:latin typeface="Bookman Old Style" pitchFamily="18" charset="0"/>
              </a:rPr>
            </a:br>
            <a:r>
              <a:rPr lang="en-US" sz="2400" dirty="0" smtClean="0">
                <a:latin typeface="Bookman Old Style" pitchFamily="18" charset="0"/>
              </a:rPr>
              <a:t>Primary data sources include information collected and processed directly by the researcher, such as observations, surveys and </a:t>
            </a:r>
            <a:r>
              <a:rPr lang="en-US" sz="2400" b="1" dirty="0" smtClean="0">
                <a:latin typeface="Bookman Old Style" pitchFamily="18" charset="0"/>
              </a:rPr>
              <a:t>interviews</a:t>
            </a:r>
            <a:r>
              <a:rPr lang="en-US" sz="2400" dirty="0" smtClean="0">
                <a:latin typeface="Bookman Old Style" pitchFamily="18" charset="0"/>
              </a:rPr>
              <a:t>,. </a:t>
            </a:r>
            <a:br>
              <a:rPr lang="en-US" sz="2400" dirty="0" smtClean="0">
                <a:latin typeface="Bookman Old Style" pitchFamily="18" charset="0"/>
              </a:rPr>
            </a:br>
            <a:endParaRPr lang="en-US" sz="2400" dirty="0">
              <a:latin typeface="Bookman Old Style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70213" y="1066800"/>
            <a:ext cx="62735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Bookman Old Style" pitchFamily="18" charset="0"/>
              </a:rPr>
              <a:t>Primary sources of data </a:t>
            </a:r>
          </a:p>
        </p:txBody>
      </p:sp>
    </p:spTree>
    <p:extLst>
      <p:ext uri="{BB962C8B-B14F-4D97-AF65-F5344CB8AC3E}">
        <p14:creationId xmlns="" xmlns:p14="http://schemas.microsoft.com/office/powerpoint/2010/main" val="56916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57200" y="887135"/>
            <a:ext cx="822960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Bookman Old Style" pitchFamily="18" charset="0"/>
              </a:rPr>
              <a:t>Advantages</a:t>
            </a:r>
            <a:r>
              <a:rPr lang="en-US" sz="2400" b="1" dirty="0" smtClean="0">
                <a:solidFill>
                  <a:srgbClr val="FF0000"/>
                </a:solidFill>
                <a:latin typeface="Bookman Old Style" pitchFamily="18" charset="0"/>
              </a:rPr>
              <a:t>:</a:t>
            </a:r>
          </a:p>
          <a:p>
            <a:endParaRPr lang="en-US" sz="1000" b="1" dirty="0" smtClean="0">
              <a:latin typeface="Bookman Old Style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Data  </a:t>
            </a:r>
            <a:r>
              <a:rPr lang="en-US" sz="2400" dirty="0">
                <a:latin typeface="Bookman Old Style" pitchFamily="18" charset="0"/>
                <a:ea typeface="+mj-ea"/>
                <a:cs typeface="Calisto MT"/>
              </a:rPr>
              <a:t>is original and more </a:t>
            </a:r>
            <a:r>
              <a:rPr lang="en-US" sz="2400" dirty="0" smtClean="0">
                <a:latin typeface="Bookman Old Style" pitchFamily="18" charset="0"/>
                <a:ea typeface="+mj-ea"/>
                <a:cs typeface="Calisto MT"/>
              </a:rPr>
              <a:t>reliable</a:t>
            </a:r>
            <a:r>
              <a:rPr lang="en-US" sz="2400" dirty="0" smtClean="0">
                <a:latin typeface="Bookman Old Style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  <a:ea typeface="+mj-ea"/>
                <a:cs typeface="Calisto MT"/>
              </a:rPr>
              <a:t>You </a:t>
            </a:r>
            <a:r>
              <a:rPr lang="en-US" sz="2400" dirty="0">
                <a:latin typeface="Bookman Old Style" pitchFamily="18" charset="0"/>
                <a:ea typeface="+mj-ea"/>
                <a:cs typeface="Calisto MT"/>
              </a:rPr>
              <a:t>know the accuracy of the </a:t>
            </a:r>
            <a:r>
              <a:rPr lang="en-US" sz="2400" dirty="0" smtClean="0">
                <a:latin typeface="Bookman Old Style" pitchFamily="18" charset="0"/>
                <a:ea typeface="+mj-ea"/>
                <a:cs typeface="Calisto MT"/>
              </a:rPr>
              <a:t>data.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Ownership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Up to date information</a:t>
            </a:r>
            <a:endParaRPr lang="en-US" sz="2400" dirty="0" smtClean="0">
              <a:latin typeface="Bookman Old Style" pitchFamily="18" charset="0"/>
              <a:ea typeface="+mj-ea"/>
              <a:cs typeface="Calisto MT"/>
            </a:endParaRPr>
          </a:p>
          <a:p>
            <a:endParaRPr lang="en-US" sz="1000" dirty="0">
              <a:latin typeface="Bookman Old Style" pitchFamily="18" charset="0"/>
              <a:ea typeface="+mj-ea"/>
              <a:cs typeface="Calisto MT"/>
            </a:endParaRPr>
          </a:p>
          <a:p>
            <a:r>
              <a:rPr lang="en-US" sz="2400" b="1" dirty="0" smtClean="0">
                <a:solidFill>
                  <a:srgbClr val="FF0000"/>
                </a:solidFill>
                <a:latin typeface="Bookman Old Style" pitchFamily="18" charset="0"/>
              </a:rPr>
              <a:t>Disadvantage:</a:t>
            </a:r>
          </a:p>
          <a:p>
            <a:endParaRPr lang="en-US" sz="1000" b="1" dirty="0" smtClean="0">
              <a:latin typeface="Bookman Old Style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</a:rPr>
              <a:t>Primary data sources </a:t>
            </a:r>
            <a:r>
              <a:rPr lang="en-US" sz="2400" dirty="0" smtClean="0">
                <a:latin typeface="Bookman Old Style" pitchFamily="18" charset="0"/>
                <a:cs typeface="Calisto MT"/>
              </a:rPr>
              <a:t>will take m</a:t>
            </a:r>
            <a:r>
              <a:rPr lang="en-US" sz="2400" dirty="0">
                <a:latin typeface="Bookman Old Style" pitchFamily="18" charset="0"/>
                <a:cs typeface="Calisto MT"/>
              </a:rPr>
              <a:t>ore time to collect the data</a:t>
            </a:r>
            <a:r>
              <a:rPr lang="en-US" sz="2400" dirty="0" smtClean="0">
                <a:latin typeface="Bookman Old Style" pitchFamily="18" charset="0"/>
                <a:cs typeface="Calisto M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Bookman Old Style" pitchFamily="18" charset="0"/>
                <a:cs typeface="Calisto MT"/>
              </a:rPr>
              <a:t>It</a:t>
            </a:r>
            <a:r>
              <a:rPr lang="en-US" sz="2400" dirty="0" smtClean="0">
                <a:latin typeface="Bookman Old Style" pitchFamily="18" charset="0"/>
              </a:rPr>
              <a:t> </a:t>
            </a:r>
            <a:r>
              <a:rPr lang="en-US" sz="2400" dirty="0" smtClean="0">
                <a:latin typeface="Bookman Old Style" pitchFamily="18" charset="0"/>
                <a:cs typeface="Calisto MT"/>
              </a:rPr>
              <a:t>is Expensive.</a:t>
            </a:r>
            <a:endParaRPr lang="en-US" sz="2400" dirty="0">
              <a:latin typeface="Bookman Old Style" pitchFamily="18" charset="0"/>
              <a:cs typeface="Calisto MT"/>
            </a:endParaRPr>
          </a:p>
          <a:p>
            <a:endParaRPr lang="en-US" sz="2400" dirty="0">
              <a:latin typeface="Bookman Old Style" pitchFamily="18" charset="0"/>
              <a:ea typeface="+mj-ea"/>
              <a:cs typeface="Calisto MT"/>
            </a:endParaRPr>
          </a:p>
          <a:p>
            <a:endParaRPr lang="en-US" sz="24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36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10"/>
          <p:cNvSpPr/>
          <p:nvPr/>
        </p:nvSpPr>
        <p:spPr>
          <a:xfrm>
            <a:off x="914401" y="1905000"/>
            <a:ext cx="2590800" cy="1524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 smtClean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 </a:t>
            </a:r>
            <a:r>
              <a:rPr lang="en-US" dirty="0" smtClean="0"/>
              <a:t>        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latin typeface="Bookman Old Style" pitchFamily="18" charset="0"/>
              </a:rPr>
              <a:t> </a:t>
            </a:r>
            <a:r>
              <a:rPr lang="en-US" sz="2400" b="1" dirty="0" smtClean="0">
                <a:latin typeface="Bookman Old Style" pitchFamily="18" charset="0"/>
              </a:rPr>
              <a:t>     Surveys</a:t>
            </a:r>
            <a:endParaRPr lang="en-US" sz="2400" b="1" dirty="0">
              <a:latin typeface="Bookman Old Style" pitchFamily="18" charset="0"/>
              <a:cs typeface="Calisto MT"/>
            </a:endParaRPr>
          </a:p>
        </p:txBody>
      </p:sp>
      <p:sp>
        <p:nvSpPr>
          <p:cNvPr id="7" name="object 12"/>
          <p:cNvSpPr/>
          <p:nvPr/>
        </p:nvSpPr>
        <p:spPr>
          <a:xfrm>
            <a:off x="5334000" y="1981201"/>
            <a:ext cx="2971800" cy="1295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12700" marR="5080" indent="350520">
              <a:lnSpc>
                <a:spcPts val="2870"/>
              </a:lnSpc>
              <a:spcBef>
                <a:spcPts val="505"/>
              </a:spcBef>
            </a:pPr>
            <a:endParaRPr lang="en-US" sz="2400" b="1" dirty="0" smtClean="0">
              <a:latin typeface="Bookman Old Style" pitchFamily="18" charset="0"/>
            </a:endParaRPr>
          </a:p>
          <a:p>
            <a:pPr marL="12700" marR="5080" indent="350520">
              <a:lnSpc>
                <a:spcPts val="2870"/>
              </a:lnSpc>
              <a:spcBef>
                <a:spcPts val="505"/>
              </a:spcBef>
            </a:pPr>
            <a:r>
              <a:rPr lang="en-US" sz="2400" b="1" dirty="0" smtClean="0">
                <a:latin typeface="Bookman Old Style" pitchFamily="18" charset="0"/>
              </a:rPr>
              <a:t>Observations</a:t>
            </a:r>
            <a:endParaRPr lang="en-US" sz="2400" b="1" dirty="0">
              <a:latin typeface="Bookman Old Style" pitchFamily="18" charset="0"/>
              <a:cs typeface="Calisto MT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2971800" y="4038600"/>
            <a:ext cx="2971800" cy="13716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12700" marR="5080" indent="241935">
              <a:lnSpc>
                <a:spcPts val="2870"/>
              </a:lnSpc>
              <a:spcBef>
                <a:spcPts val="500"/>
              </a:spcBef>
            </a:pPr>
            <a:r>
              <a:rPr lang="en-US" sz="2400" b="1" dirty="0" smtClean="0">
                <a:latin typeface="Bookman Old Style" pitchFamily="18" charset="0"/>
              </a:rPr>
              <a:t>   </a:t>
            </a:r>
          </a:p>
          <a:p>
            <a:pPr marL="12700" marR="5080" indent="241935">
              <a:lnSpc>
                <a:spcPts val="2870"/>
              </a:lnSpc>
              <a:spcBef>
                <a:spcPts val="500"/>
              </a:spcBef>
            </a:pPr>
            <a:r>
              <a:rPr lang="en-US" sz="2400" b="1" dirty="0">
                <a:latin typeface="Bookman Old Style" pitchFamily="18" charset="0"/>
              </a:rPr>
              <a:t> </a:t>
            </a:r>
            <a:r>
              <a:rPr lang="en-US" sz="2400" b="1" dirty="0" smtClean="0">
                <a:latin typeface="Bookman Old Style" pitchFamily="18" charset="0"/>
              </a:rPr>
              <a:t>Experimental</a:t>
            </a:r>
            <a:endParaRPr lang="en-US" sz="2400" b="1" dirty="0">
              <a:latin typeface="Bookman Old Style" pitchFamily="18" charset="0"/>
              <a:cs typeface="Calisto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76108" y="1015425"/>
            <a:ext cx="6475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Primary sources of data 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2590801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178" y="1905000"/>
            <a:ext cx="4107422" cy="14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178" y="4038600"/>
            <a:ext cx="3706368" cy="137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16856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4800" y="1143000"/>
            <a:ext cx="8534400" cy="4501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 smtClean="0">
                <a:solidFill>
                  <a:srgbClr val="C00000"/>
                </a:solidFill>
                <a:latin typeface="Bookman Old Style" pitchFamily="18" charset="0"/>
              </a:rPr>
              <a:t>Survey Method:</a:t>
            </a:r>
          </a:p>
          <a:p>
            <a:pPr algn="just">
              <a:lnSpc>
                <a:spcPct val="150000"/>
              </a:lnSpc>
            </a:pPr>
            <a:r>
              <a:rPr lang="en-US" sz="2300" dirty="0" smtClean="0">
                <a:latin typeface="Bookman Old Style" pitchFamily="18" charset="0"/>
              </a:rPr>
              <a:t>Survey is defined as the act of examining a process or questioning a selected sample of individuals to obtain data about a service, product, or process.</a:t>
            </a:r>
          </a:p>
          <a:p>
            <a:pPr algn="just">
              <a:lnSpc>
                <a:spcPct val="150000"/>
              </a:lnSpc>
            </a:pPr>
            <a:endParaRPr lang="en-US" sz="23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smtClean="0">
                <a:latin typeface="Bookman Old Style" pitchFamily="18" charset="0"/>
              </a:rPr>
              <a:t>Data collection surveys collect information from a targeted group of people about their opinions, behavior, or knowledge</a:t>
            </a:r>
            <a:r>
              <a:rPr lang="en-US" sz="2300" b="1" dirty="0" smtClean="0">
                <a:solidFill>
                  <a:srgbClr val="C00000"/>
                </a:solidFill>
                <a:latin typeface="Bookman Old Style" pitchFamily="18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222948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4800" y="1143000"/>
            <a:ext cx="8534400" cy="4501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 smtClean="0">
                <a:solidFill>
                  <a:srgbClr val="C00000"/>
                </a:solidFill>
                <a:latin typeface="Bookman Old Style" pitchFamily="18" charset="0"/>
              </a:rPr>
              <a:t>Observation Method:</a:t>
            </a:r>
          </a:p>
          <a:p>
            <a:pPr algn="just">
              <a:lnSpc>
                <a:spcPct val="150000"/>
              </a:lnSpc>
            </a:pPr>
            <a:r>
              <a:rPr lang="en-US" sz="2300" dirty="0" smtClean="0">
                <a:latin typeface="Bookman Old Style" pitchFamily="18" charset="0"/>
              </a:rPr>
              <a:t>Observation is a technique that involves systematically selecting, watching, listening, reading and recording behavior and characteristics of living beings, objects, or phenomena.</a:t>
            </a:r>
          </a:p>
          <a:p>
            <a:pPr algn="just">
              <a:lnSpc>
                <a:spcPct val="150000"/>
              </a:lnSpc>
            </a:pPr>
            <a:endParaRPr lang="en-US" sz="2300" b="1" dirty="0" smtClean="0">
              <a:solidFill>
                <a:srgbClr val="C00000"/>
              </a:solidFill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smtClean="0">
                <a:latin typeface="Bookman Old Style" pitchFamily="18" charset="0"/>
              </a:rPr>
              <a:t>There exist various observation practices, and role as an observer may vary according to the research approach.</a:t>
            </a:r>
            <a:endParaRPr lang="en-US" sz="2300" b="1" dirty="0" smtClean="0">
              <a:solidFill>
                <a:srgbClr val="C00000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910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6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object 10"/>
          <p:cNvGrpSpPr/>
          <p:nvPr/>
        </p:nvGrpSpPr>
        <p:grpSpPr>
          <a:xfrm>
            <a:off x="1405612" y="1828800"/>
            <a:ext cx="3105785" cy="3825240"/>
            <a:chOff x="1389697" y="2430843"/>
            <a:chExt cx="3105785" cy="3825240"/>
          </a:xfrm>
        </p:grpSpPr>
        <p:sp>
          <p:nvSpPr>
            <p:cNvPr id="29" name="object 11"/>
            <p:cNvSpPr/>
            <p:nvPr/>
          </p:nvSpPr>
          <p:spPr>
            <a:xfrm>
              <a:off x="1394460" y="2435605"/>
              <a:ext cx="3096260" cy="3815715"/>
            </a:xfrm>
            <a:custGeom>
              <a:avLst/>
              <a:gdLst/>
              <a:ahLst/>
              <a:cxnLst/>
              <a:rect l="l" t="t" r="r" b="b"/>
              <a:pathLst>
                <a:path w="3096260" h="3815715">
                  <a:moveTo>
                    <a:pt x="2786126" y="0"/>
                  </a:moveTo>
                  <a:lnTo>
                    <a:pt x="309626" y="0"/>
                  </a:lnTo>
                  <a:lnTo>
                    <a:pt x="263856" y="3358"/>
                  </a:lnTo>
                  <a:lnTo>
                    <a:pt x="220177" y="13114"/>
                  </a:lnTo>
                  <a:lnTo>
                    <a:pt x="179066" y="28787"/>
                  </a:lnTo>
                  <a:lnTo>
                    <a:pt x="141001" y="49897"/>
                  </a:lnTo>
                  <a:lnTo>
                    <a:pt x="106461" y="75966"/>
                  </a:lnTo>
                  <a:lnTo>
                    <a:pt x="75923" y="106512"/>
                  </a:lnTo>
                  <a:lnTo>
                    <a:pt x="49865" y="141057"/>
                  </a:lnTo>
                  <a:lnTo>
                    <a:pt x="28766" y="179121"/>
                  </a:lnTo>
                  <a:lnTo>
                    <a:pt x="13103" y="220223"/>
                  </a:lnTo>
                  <a:lnTo>
                    <a:pt x="3355" y="263885"/>
                  </a:lnTo>
                  <a:lnTo>
                    <a:pt x="0" y="309626"/>
                  </a:lnTo>
                  <a:lnTo>
                    <a:pt x="0" y="3505987"/>
                  </a:lnTo>
                  <a:lnTo>
                    <a:pt x="3355" y="3551735"/>
                  </a:lnTo>
                  <a:lnTo>
                    <a:pt x="13103" y="3595399"/>
                  </a:lnTo>
                  <a:lnTo>
                    <a:pt x="28766" y="3636499"/>
                  </a:lnTo>
                  <a:lnTo>
                    <a:pt x="49865" y="3674557"/>
                  </a:lnTo>
                  <a:lnTo>
                    <a:pt x="75923" y="3709094"/>
                  </a:lnTo>
                  <a:lnTo>
                    <a:pt x="106461" y="3739631"/>
                  </a:lnTo>
                  <a:lnTo>
                    <a:pt x="141001" y="3765689"/>
                  </a:lnTo>
                  <a:lnTo>
                    <a:pt x="179066" y="3786790"/>
                  </a:lnTo>
                  <a:lnTo>
                    <a:pt x="220177" y="3802456"/>
                  </a:lnTo>
                  <a:lnTo>
                    <a:pt x="263856" y="3812206"/>
                  </a:lnTo>
                  <a:lnTo>
                    <a:pt x="309626" y="3815562"/>
                  </a:lnTo>
                  <a:lnTo>
                    <a:pt x="2786126" y="3815562"/>
                  </a:lnTo>
                  <a:lnTo>
                    <a:pt x="2831895" y="3812206"/>
                  </a:lnTo>
                  <a:lnTo>
                    <a:pt x="2875574" y="3802456"/>
                  </a:lnTo>
                  <a:lnTo>
                    <a:pt x="2916685" y="3786790"/>
                  </a:lnTo>
                  <a:lnTo>
                    <a:pt x="2954750" y="3765689"/>
                  </a:lnTo>
                  <a:lnTo>
                    <a:pt x="2989290" y="3739631"/>
                  </a:lnTo>
                  <a:lnTo>
                    <a:pt x="3019828" y="3709094"/>
                  </a:lnTo>
                  <a:lnTo>
                    <a:pt x="3045886" y="3674557"/>
                  </a:lnTo>
                  <a:lnTo>
                    <a:pt x="3066985" y="3636499"/>
                  </a:lnTo>
                  <a:lnTo>
                    <a:pt x="3082648" y="3595399"/>
                  </a:lnTo>
                  <a:lnTo>
                    <a:pt x="3092396" y="3551735"/>
                  </a:lnTo>
                  <a:lnTo>
                    <a:pt x="3095752" y="3505987"/>
                  </a:lnTo>
                  <a:lnTo>
                    <a:pt x="3095752" y="309626"/>
                  </a:lnTo>
                  <a:lnTo>
                    <a:pt x="3092396" y="263885"/>
                  </a:lnTo>
                  <a:lnTo>
                    <a:pt x="3082648" y="220223"/>
                  </a:lnTo>
                  <a:lnTo>
                    <a:pt x="3066985" y="179121"/>
                  </a:lnTo>
                  <a:lnTo>
                    <a:pt x="3045886" y="141057"/>
                  </a:lnTo>
                  <a:lnTo>
                    <a:pt x="3019828" y="106512"/>
                  </a:lnTo>
                  <a:lnTo>
                    <a:pt x="2989290" y="75966"/>
                  </a:lnTo>
                  <a:lnTo>
                    <a:pt x="2954750" y="49897"/>
                  </a:lnTo>
                  <a:lnTo>
                    <a:pt x="2916685" y="28787"/>
                  </a:lnTo>
                  <a:lnTo>
                    <a:pt x="2875574" y="13114"/>
                  </a:lnTo>
                  <a:lnTo>
                    <a:pt x="2831895" y="3358"/>
                  </a:lnTo>
                  <a:lnTo>
                    <a:pt x="278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2"/>
            <p:cNvSpPr/>
            <p:nvPr/>
          </p:nvSpPr>
          <p:spPr>
            <a:xfrm>
              <a:off x="1394460" y="2435605"/>
              <a:ext cx="3096260" cy="3815715"/>
            </a:xfrm>
            <a:custGeom>
              <a:avLst/>
              <a:gdLst/>
              <a:ahLst/>
              <a:cxnLst/>
              <a:rect l="l" t="t" r="r" b="b"/>
              <a:pathLst>
                <a:path w="3096260" h="3815715">
                  <a:moveTo>
                    <a:pt x="0" y="309626"/>
                  </a:moveTo>
                  <a:lnTo>
                    <a:pt x="3355" y="263885"/>
                  </a:lnTo>
                  <a:lnTo>
                    <a:pt x="13103" y="220223"/>
                  </a:lnTo>
                  <a:lnTo>
                    <a:pt x="28766" y="179121"/>
                  </a:lnTo>
                  <a:lnTo>
                    <a:pt x="49865" y="141057"/>
                  </a:lnTo>
                  <a:lnTo>
                    <a:pt x="75923" y="106512"/>
                  </a:lnTo>
                  <a:lnTo>
                    <a:pt x="106461" y="75966"/>
                  </a:lnTo>
                  <a:lnTo>
                    <a:pt x="141001" y="49897"/>
                  </a:lnTo>
                  <a:lnTo>
                    <a:pt x="179066" y="28787"/>
                  </a:lnTo>
                  <a:lnTo>
                    <a:pt x="220177" y="13114"/>
                  </a:lnTo>
                  <a:lnTo>
                    <a:pt x="263856" y="3358"/>
                  </a:lnTo>
                  <a:lnTo>
                    <a:pt x="309626" y="0"/>
                  </a:lnTo>
                  <a:lnTo>
                    <a:pt x="2786126" y="0"/>
                  </a:lnTo>
                  <a:lnTo>
                    <a:pt x="2831895" y="3358"/>
                  </a:lnTo>
                  <a:lnTo>
                    <a:pt x="2875574" y="13114"/>
                  </a:lnTo>
                  <a:lnTo>
                    <a:pt x="2916685" y="28787"/>
                  </a:lnTo>
                  <a:lnTo>
                    <a:pt x="2954750" y="49897"/>
                  </a:lnTo>
                  <a:lnTo>
                    <a:pt x="2989290" y="75966"/>
                  </a:lnTo>
                  <a:lnTo>
                    <a:pt x="3019828" y="106512"/>
                  </a:lnTo>
                  <a:lnTo>
                    <a:pt x="3045886" y="141057"/>
                  </a:lnTo>
                  <a:lnTo>
                    <a:pt x="3066985" y="179121"/>
                  </a:lnTo>
                  <a:lnTo>
                    <a:pt x="3082648" y="220223"/>
                  </a:lnTo>
                  <a:lnTo>
                    <a:pt x="3092396" y="263885"/>
                  </a:lnTo>
                  <a:lnTo>
                    <a:pt x="3095752" y="309626"/>
                  </a:lnTo>
                  <a:lnTo>
                    <a:pt x="3095752" y="3505987"/>
                  </a:lnTo>
                  <a:lnTo>
                    <a:pt x="3092396" y="3551735"/>
                  </a:lnTo>
                  <a:lnTo>
                    <a:pt x="3082648" y="3595399"/>
                  </a:lnTo>
                  <a:lnTo>
                    <a:pt x="3066985" y="3636499"/>
                  </a:lnTo>
                  <a:lnTo>
                    <a:pt x="3045886" y="3674557"/>
                  </a:lnTo>
                  <a:lnTo>
                    <a:pt x="3019828" y="3709094"/>
                  </a:lnTo>
                  <a:lnTo>
                    <a:pt x="2989290" y="3739631"/>
                  </a:lnTo>
                  <a:lnTo>
                    <a:pt x="2954750" y="3765689"/>
                  </a:lnTo>
                  <a:lnTo>
                    <a:pt x="2916685" y="3786790"/>
                  </a:lnTo>
                  <a:lnTo>
                    <a:pt x="2875574" y="3802456"/>
                  </a:lnTo>
                  <a:lnTo>
                    <a:pt x="2831895" y="3812206"/>
                  </a:lnTo>
                  <a:lnTo>
                    <a:pt x="2786126" y="3815562"/>
                  </a:lnTo>
                  <a:lnTo>
                    <a:pt x="309626" y="3815562"/>
                  </a:lnTo>
                  <a:lnTo>
                    <a:pt x="263856" y="3812206"/>
                  </a:lnTo>
                  <a:lnTo>
                    <a:pt x="220177" y="3802456"/>
                  </a:lnTo>
                  <a:lnTo>
                    <a:pt x="179066" y="3786790"/>
                  </a:lnTo>
                  <a:lnTo>
                    <a:pt x="141001" y="3765689"/>
                  </a:lnTo>
                  <a:lnTo>
                    <a:pt x="106461" y="3739631"/>
                  </a:lnTo>
                  <a:lnTo>
                    <a:pt x="75923" y="3709094"/>
                  </a:lnTo>
                  <a:lnTo>
                    <a:pt x="49865" y="3674557"/>
                  </a:lnTo>
                  <a:lnTo>
                    <a:pt x="28766" y="3636499"/>
                  </a:lnTo>
                  <a:lnTo>
                    <a:pt x="13103" y="3595399"/>
                  </a:lnTo>
                  <a:lnTo>
                    <a:pt x="3355" y="3551735"/>
                  </a:lnTo>
                  <a:lnTo>
                    <a:pt x="0" y="3505987"/>
                  </a:lnTo>
                  <a:lnTo>
                    <a:pt x="0" y="309626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14"/>
          <p:cNvGrpSpPr/>
          <p:nvPr/>
        </p:nvGrpSpPr>
        <p:grpSpPr>
          <a:xfrm>
            <a:off x="4500562" y="2057400"/>
            <a:ext cx="3559747" cy="1728790"/>
            <a:chOff x="4418773" y="2288032"/>
            <a:chExt cx="3559747" cy="1728790"/>
          </a:xfrm>
        </p:grpSpPr>
        <p:sp>
          <p:nvSpPr>
            <p:cNvPr id="32" name="object 15"/>
            <p:cNvSpPr/>
            <p:nvPr/>
          </p:nvSpPr>
          <p:spPr>
            <a:xfrm>
              <a:off x="4418773" y="2910840"/>
              <a:ext cx="1068388" cy="1105982"/>
            </a:xfrm>
            <a:custGeom>
              <a:avLst/>
              <a:gdLst/>
              <a:ahLst/>
              <a:cxnLst/>
              <a:rect l="l" t="t" r="r" b="b"/>
              <a:pathLst>
                <a:path w="996950" h="1432560">
                  <a:moveTo>
                    <a:pt x="0" y="1432560"/>
                  </a:moveTo>
                  <a:lnTo>
                    <a:pt x="996568" y="0"/>
                  </a:lnTo>
                </a:path>
              </a:pathLst>
            </a:custGeom>
            <a:ln w="15875">
              <a:solidFill>
                <a:srgbClr val="7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6"/>
            <p:cNvSpPr/>
            <p:nvPr/>
          </p:nvSpPr>
          <p:spPr>
            <a:xfrm>
              <a:off x="5486780" y="2288032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2366772" y="0"/>
                  </a:moveTo>
                  <a:lnTo>
                    <a:pt x="124587" y="0"/>
                  </a:lnTo>
                  <a:lnTo>
                    <a:pt x="76080" y="9786"/>
                  </a:lnTo>
                  <a:lnTo>
                    <a:pt x="36480" y="36480"/>
                  </a:lnTo>
                  <a:lnTo>
                    <a:pt x="9786" y="76080"/>
                  </a:lnTo>
                  <a:lnTo>
                    <a:pt x="0" y="124587"/>
                  </a:lnTo>
                  <a:lnTo>
                    <a:pt x="0" y="1121155"/>
                  </a:lnTo>
                  <a:lnTo>
                    <a:pt x="9786" y="1169588"/>
                  </a:lnTo>
                  <a:lnTo>
                    <a:pt x="36480" y="1209151"/>
                  </a:lnTo>
                  <a:lnTo>
                    <a:pt x="76080" y="1235831"/>
                  </a:lnTo>
                  <a:lnTo>
                    <a:pt x="124587" y="1245615"/>
                  </a:lnTo>
                  <a:lnTo>
                    <a:pt x="2366772" y="1245615"/>
                  </a:lnTo>
                  <a:lnTo>
                    <a:pt x="2415278" y="1235831"/>
                  </a:lnTo>
                  <a:lnTo>
                    <a:pt x="2454878" y="1209151"/>
                  </a:lnTo>
                  <a:lnTo>
                    <a:pt x="2481572" y="1169588"/>
                  </a:lnTo>
                  <a:lnTo>
                    <a:pt x="2491359" y="1121155"/>
                  </a:lnTo>
                  <a:lnTo>
                    <a:pt x="2491359" y="124587"/>
                  </a:lnTo>
                  <a:lnTo>
                    <a:pt x="2481572" y="76080"/>
                  </a:lnTo>
                  <a:lnTo>
                    <a:pt x="2454878" y="36480"/>
                  </a:lnTo>
                  <a:lnTo>
                    <a:pt x="2415278" y="9786"/>
                  </a:lnTo>
                  <a:lnTo>
                    <a:pt x="2366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</a:t>
              </a:r>
            </a:p>
            <a:p>
              <a:pPr algn="ctr"/>
              <a:r>
                <a:rPr lang="en-US" b="1" dirty="0"/>
                <a:t> </a:t>
              </a:r>
              <a:r>
                <a:rPr lang="en-US" b="1" dirty="0" smtClean="0"/>
                <a:t>    RBD - Randomized Block Design</a:t>
              </a:r>
            </a:p>
            <a:p>
              <a:endParaRPr dirty="0"/>
            </a:p>
          </p:txBody>
        </p:sp>
        <p:sp>
          <p:nvSpPr>
            <p:cNvPr id="34" name="object 17"/>
            <p:cNvSpPr/>
            <p:nvPr/>
          </p:nvSpPr>
          <p:spPr>
            <a:xfrm>
              <a:off x="5486780" y="2288032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0" y="124587"/>
                  </a:moveTo>
                  <a:lnTo>
                    <a:pt x="9786" y="76080"/>
                  </a:lnTo>
                  <a:lnTo>
                    <a:pt x="36480" y="36480"/>
                  </a:lnTo>
                  <a:lnTo>
                    <a:pt x="76080" y="9786"/>
                  </a:lnTo>
                  <a:lnTo>
                    <a:pt x="124587" y="0"/>
                  </a:lnTo>
                  <a:lnTo>
                    <a:pt x="2366772" y="0"/>
                  </a:lnTo>
                  <a:lnTo>
                    <a:pt x="2415278" y="9786"/>
                  </a:lnTo>
                  <a:lnTo>
                    <a:pt x="2454878" y="36480"/>
                  </a:lnTo>
                  <a:lnTo>
                    <a:pt x="2481572" y="76080"/>
                  </a:lnTo>
                  <a:lnTo>
                    <a:pt x="2491359" y="124587"/>
                  </a:lnTo>
                  <a:lnTo>
                    <a:pt x="2491359" y="1121155"/>
                  </a:lnTo>
                  <a:lnTo>
                    <a:pt x="2481572" y="1169588"/>
                  </a:lnTo>
                  <a:lnTo>
                    <a:pt x="2454878" y="1209151"/>
                  </a:lnTo>
                  <a:lnTo>
                    <a:pt x="2415278" y="1235831"/>
                  </a:lnTo>
                  <a:lnTo>
                    <a:pt x="2366772" y="1245615"/>
                  </a:lnTo>
                  <a:lnTo>
                    <a:pt x="124587" y="1245615"/>
                  </a:lnTo>
                  <a:lnTo>
                    <a:pt x="76080" y="1235831"/>
                  </a:lnTo>
                  <a:lnTo>
                    <a:pt x="36480" y="1209151"/>
                  </a:lnTo>
                  <a:lnTo>
                    <a:pt x="9786" y="1169588"/>
                  </a:lnTo>
                  <a:lnTo>
                    <a:pt x="0" y="1121155"/>
                  </a:lnTo>
                  <a:lnTo>
                    <a:pt x="0" y="124587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19"/>
          <p:cNvGrpSpPr/>
          <p:nvPr/>
        </p:nvGrpSpPr>
        <p:grpSpPr>
          <a:xfrm>
            <a:off x="5580342" y="3352800"/>
            <a:ext cx="2492120" cy="1306976"/>
            <a:chOff x="5482018" y="3715829"/>
            <a:chExt cx="2501265" cy="1255395"/>
          </a:xfrm>
        </p:grpSpPr>
        <p:sp>
          <p:nvSpPr>
            <p:cNvPr id="36" name="object 20"/>
            <p:cNvSpPr/>
            <p:nvPr/>
          </p:nvSpPr>
          <p:spPr>
            <a:xfrm>
              <a:off x="5486780" y="3720591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2366772" y="0"/>
                  </a:moveTo>
                  <a:lnTo>
                    <a:pt x="124587" y="0"/>
                  </a:lnTo>
                  <a:lnTo>
                    <a:pt x="76080" y="9786"/>
                  </a:lnTo>
                  <a:lnTo>
                    <a:pt x="36480" y="36480"/>
                  </a:lnTo>
                  <a:lnTo>
                    <a:pt x="9786" y="76080"/>
                  </a:lnTo>
                  <a:lnTo>
                    <a:pt x="0" y="124586"/>
                  </a:lnTo>
                  <a:lnTo>
                    <a:pt x="0" y="1121028"/>
                  </a:lnTo>
                  <a:lnTo>
                    <a:pt x="9786" y="1169535"/>
                  </a:lnTo>
                  <a:lnTo>
                    <a:pt x="36480" y="1209135"/>
                  </a:lnTo>
                  <a:lnTo>
                    <a:pt x="76080" y="1235829"/>
                  </a:lnTo>
                  <a:lnTo>
                    <a:pt x="124587" y="1245615"/>
                  </a:lnTo>
                  <a:lnTo>
                    <a:pt x="2366772" y="1245615"/>
                  </a:lnTo>
                  <a:lnTo>
                    <a:pt x="2415278" y="1235829"/>
                  </a:lnTo>
                  <a:lnTo>
                    <a:pt x="2454878" y="1209135"/>
                  </a:lnTo>
                  <a:lnTo>
                    <a:pt x="2481572" y="1169535"/>
                  </a:lnTo>
                  <a:lnTo>
                    <a:pt x="2491359" y="1121028"/>
                  </a:lnTo>
                  <a:lnTo>
                    <a:pt x="2491359" y="124586"/>
                  </a:lnTo>
                  <a:lnTo>
                    <a:pt x="2481572" y="76080"/>
                  </a:lnTo>
                  <a:lnTo>
                    <a:pt x="2454878" y="36480"/>
                  </a:lnTo>
                  <a:lnTo>
                    <a:pt x="2415278" y="9786"/>
                  </a:lnTo>
                  <a:lnTo>
                    <a:pt x="2366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1"/>
            <p:cNvSpPr/>
            <p:nvPr/>
          </p:nvSpPr>
          <p:spPr>
            <a:xfrm>
              <a:off x="5486780" y="3720591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0" y="124586"/>
                  </a:moveTo>
                  <a:lnTo>
                    <a:pt x="9786" y="76080"/>
                  </a:lnTo>
                  <a:lnTo>
                    <a:pt x="36480" y="36480"/>
                  </a:lnTo>
                  <a:lnTo>
                    <a:pt x="76080" y="9786"/>
                  </a:lnTo>
                  <a:lnTo>
                    <a:pt x="124587" y="0"/>
                  </a:lnTo>
                  <a:lnTo>
                    <a:pt x="2366772" y="0"/>
                  </a:lnTo>
                  <a:lnTo>
                    <a:pt x="2415278" y="9786"/>
                  </a:lnTo>
                  <a:lnTo>
                    <a:pt x="2454878" y="36480"/>
                  </a:lnTo>
                  <a:lnTo>
                    <a:pt x="2481572" y="76080"/>
                  </a:lnTo>
                  <a:lnTo>
                    <a:pt x="2491359" y="124586"/>
                  </a:lnTo>
                  <a:lnTo>
                    <a:pt x="2491359" y="1121028"/>
                  </a:lnTo>
                  <a:lnTo>
                    <a:pt x="2481572" y="1169535"/>
                  </a:lnTo>
                  <a:lnTo>
                    <a:pt x="2454878" y="1209135"/>
                  </a:lnTo>
                  <a:lnTo>
                    <a:pt x="2415278" y="1235829"/>
                  </a:lnTo>
                  <a:lnTo>
                    <a:pt x="2366772" y="1245615"/>
                  </a:lnTo>
                  <a:lnTo>
                    <a:pt x="124587" y="1245615"/>
                  </a:lnTo>
                  <a:lnTo>
                    <a:pt x="76080" y="1235829"/>
                  </a:lnTo>
                  <a:lnTo>
                    <a:pt x="36480" y="1209135"/>
                  </a:lnTo>
                  <a:lnTo>
                    <a:pt x="9786" y="1169535"/>
                  </a:lnTo>
                  <a:lnTo>
                    <a:pt x="0" y="1121028"/>
                  </a:lnTo>
                  <a:lnTo>
                    <a:pt x="0" y="124586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23"/>
          <p:cNvGrpSpPr/>
          <p:nvPr/>
        </p:nvGrpSpPr>
        <p:grpSpPr>
          <a:xfrm>
            <a:off x="4500562" y="4143379"/>
            <a:ext cx="3567684" cy="1639178"/>
            <a:chOff x="4410836" y="4448989"/>
            <a:chExt cx="3567684" cy="1950033"/>
          </a:xfrm>
        </p:grpSpPr>
        <p:sp>
          <p:nvSpPr>
            <p:cNvPr id="39" name="object 24"/>
            <p:cNvSpPr/>
            <p:nvPr/>
          </p:nvSpPr>
          <p:spPr>
            <a:xfrm>
              <a:off x="4410836" y="4448989"/>
              <a:ext cx="1076325" cy="1326970"/>
            </a:xfrm>
            <a:custGeom>
              <a:avLst/>
              <a:gdLst/>
              <a:ahLst/>
              <a:cxnLst/>
              <a:rect l="l" t="t" r="r" b="b"/>
              <a:pathLst>
                <a:path w="996950" h="1432560">
                  <a:moveTo>
                    <a:pt x="0" y="0"/>
                  </a:moveTo>
                  <a:lnTo>
                    <a:pt x="996568" y="1432547"/>
                  </a:lnTo>
                </a:path>
              </a:pathLst>
            </a:custGeom>
            <a:ln w="15875">
              <a:solidFill>
                <a:srgbClr val="7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5"/>
            <p:cNvSpPr/>
            <p:nvPr/>
          </p:nvSpPr>
          <p:spPr>
            <a:xfrm>
              <a:off x="5486780" y="5153152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2366772" y="0"/>
                  </a:moveTo>
                  <a:lnTo>
                    <a:pt x="124587" y="0"/>
                  </a:lnTo>
                  <a:lnTo>
                    <a:pt x="76080" y="9784"/>
                  </a:lnTo>
                  <a:lnTo>
                    <a:pt x="36480" y="36464"/>
                  </a:lnTo>
                  <a:lnTo>
                    <a:pt x="9786" y="76027"/>
                  </a:lnTo>
                  <a:lnTo>
                    <a:pt x="0" y="124460"/>
                  </a:lnTo>
                  <a:lnTo>
                    <a:pt x="0" y="1121067"/>
                  </a:lnTo>
                  <a:lnTo>
                    <a:pt x="9786" y="1169555"/>
                  </a:lnTo>
                  <a:lnTo>
                    <a:pt x="36480" y="1209152"/>
                  </a:lnTo>
                  <a:lnTo>
                    <a:pt x="76080" y="1235851"/>
                  </a:lnTo>
                  <a:lnTo>
                    <a:pt x="124587" y="1245641"/>
                  </a:lnTo>
                  <a:lnTo>
                    <a:pt x="2366772" y="1245641"/>
                  </a:lnTo>
                  <a:lnTo>
                    <a:pt x="2415278" y="1235851"/>
                  </a:lnTo>
                  <a:lnTo>
                    <a:pt x="2454878" y="1209152"/>
                  </a:lnTo>
                  <a:lnTo>
                    <a:pt x="2481572" y="1169555"/>
                  </a:lnTo>
                  <a:lnTo>
                    <a:pt x="2491359" y="1121067"/>
                  </a:lnTo>
                  <a:lnTo>
                    <a:pt x="2491359" y="124460"/>
                  </a:lnTo>
                  <a:lnTo>
                    <a:pt x="2481572" y="76027"/>
                  </a:lnTo>
                  <a:lnTo>
                    <a:pt x="2454878" y="36464"/>
                  </a:lnTo>
                  <a:lnTo>
                    <a:pt x="2415278" y="9784"/>
                  </a:lnTo>
                  <a:lnTo>
                    <a:pt x="2366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6"/>
            <p:cNvSpPr/>
            <p:nvPr/>
          </p:nvSpPr>
          <p:spPr>
            <a:xfrm>
              <a:off x="5486780" y="5153152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0" y="124460"/>
                  </a:moveTo>
                  <a:lnTo>
                    <a:pt x="9786" y="76027"/>
                  </a:lnTo>
                  <a:lnTo>
                    <a:pt x="36480" y="36464"/>
                  </a:lnTo>
                  <a:lnTo>
                    <a:pt x="76080" y="9784"/>
                  </a:lnTo>
                  <a:lnTo>
                    <a:pt x="124587" y="0"/>
                  </a:lnTo>
                  <a:lnTo>
                    <a:pt x="2366772" y="0"/>
                  </a:lnTo>
                  <a:lnTo>
                    <a:pt x="2415278" y="9784"/>
                  </a:lnTo>
                  <a:lnTo>
                    <a:pt x="2454878" y="36464"/>
                  </a:lnTo>
                  <a:lnTo>
                    <a:pt x="2481572" y="76027"/>
                  </a:lnTo>
                  <a:lnTo>
                    <a:pt x="2491359" y="124460"/>
                  </a:lnTo>
                  <a:lnTo>
                    <a:pt x="2491359" y="1121067"/>
                  </a:lnTo>
                  <a:lnTo>
                    <a:pt x="2481572" y="1169555"/>
                  </a:lnTo>
                  <a:lnTo>
                    <a:pt x="2454878" y="1209152"/>
                  </a:lnTo>
                  <a:lnTo>
                    <a:pt x="2415278" y="1235851"/>
                  </a:lnTo>
                  <a:lnTo>
                    <a:pt x="2366772" y="1245641"/>
                  </a:lnTo>
                  <a:lnTo>
                    <a:pt x="124587" y="1245641"/>
                  </a:lnTo>
                  <a:lnTo>
                    <a:pt x="76080" y="1235851"/>
                  </a:lnTo>
                  <a:lnTo>
                    <a:pt x="36480" y="1209152"/>
                  </a:lnTo>
                  <a:lnTo>
                    <a:pt x="9786" y="1169555"/>
                  </a:lnTo>
                  <a:lnTo>
                    <a:pt x="0" y="1121067"/>
                  </a:lnTo>
                  <a:lnTo>
                    <a:pt x="0" y="124460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Rectangle 41"/>
          <p:cNvSpPr/>
          <p:nvPr/>
        </p:nvSpPr>
        <p:spPr>
          <a:xfrm>
            <a:off x="1524000" y="3352800"/>
            <a:ext cx="280586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Bookman Old Style" pitchFamily="18" charset="0"/>
              </a:rPr>
              <a:t> </a:t>
            </a:r>
            <a:r>
              <a:rPr lang="en-US" sz="2500" b="1" dirty="0" smtClean="0">
                <a:solidFill>
                  <a:srgbClr val="C00000"/>
                </a:solidFill>
                <a:latin typeface="Bookman Old Style" pitchFamily="18" charset="0"/>
              </a:rPr>
              <a:t>Experimental</a:t>
            </a:r>
            <a:endParaRPr lang="en-US" sz="2500" dirty="0">
              <a:solidFill>
                <a:srgbClr val="C00000"/>
              </a:solidFill>
            </a:endParaRPr>
          </a:p>
        </p:txBody>
      </p:sp>
      <p:grpSp>
        <p:nvGrpSpPr>
          <p:cNvPr id="43" name="object 14"/>
          <p:cNvGrpSpPr/>
          <p:nvPr/>
        </p:nvGrpSpPr>
        <p:grpSpPr>
          <a:xfrm>
            <a:off x="4500562" y="914400"/>
            <a:ext cx="3554146" cy="2157410"/>
            <a:chOff x="4424374" y="2288032"/>
            <a:chExt cx="3554146" cy="2309788"/>
          </a:xfrm>
        </p:grpSpPr>
        <p:sp>
          <p:nvSpPr>
            <p:cNvPr id="44" name="object 15"/>
            <p:cNvSpPr/>
            <p:nvPr/>
          </p:nvSpPr>
          <p:spPr>
            <a:xfrm>
              <a:off x="4424374" y="2910840"/>
              <a:ext cx="1062787" cy="1686980"/>
            </a:xfrm>
            <a:custGeom>
              <a:avLst/>
              <a:gdLst/>
              <a:ahLst/>
              <a:cxnLst/>
              <a:rect l="l" t="t" r="r" b="b"/>
              <a:pathLst>
                <a:path w="996950" h="1432560">
                  <a:moveTo>
                    <a:pt x="0" y="1432560"/>
                  </a:moveTo>
                  <a:lnTo>
                    <a:pt x="996568" y="0"/>
                  </a:lnTo>
                </a:path>
              </a:pathLst>
            </a:custGeom>
            <a:ln w="15875">
              <a:solidFill>
                <a:srgbClr val="7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6"/>
            <p:cNvSpPr/>
            <p:nvPr/>
          </p:nvSpPr>
          <p:spPr>
            <a:xfrm>
              <a:off x="5486780" y="2288032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2366772" y="0"/>
                  </a:moveTo>
                  <a:lnTo>
                    <a:pt x="124587" y="0"/>
                  </a:lnTo>
                  <a:lnTo>
                    <a:pt x="76080" y="9786"/>
                  </a:lnTo>
                  <a:lnTo>
                    <a:pt x="36480" y="36480"/>
                  </a:lnTo>
                  <a:lnTo>
                    <a:pt x="9786" y="76080"/>
                  </a:lnTo>
                  <a:lnTo>
                    <a:pt x="0" y="124587"/>
                  </a:lnTo>
                  <a:lnTo>
                    <a:pt x="0" y="1121155"/>
                  </a:lnTo>
                  <a:lnTo>
                    <a:pt x="9786" y="1169588"/>
                  </a:lnTo>
                  <a:lnTo>
                    <a:pt x="36480" y="1209151"/>
                  </a:lnTo>
                  <a:lnTo>
                    <a:pt x="76080" y="1235831"/>
                  </a:lnTo>
                  <a:lnTo>
                    <a:pt x="124587" y="1245615"/>
                  </a:lnTo>
                  <a:lnTo>
                    <a:pt x="2366772" y="1245615"/>
                  </a:lnTo>
                  <a:lnTo>
                    <a:pt x="2415278" y="1235831"/>
                  </a:lnTo>
                  <a:lnTo>
                    <a:pt x="2454878" y="1209151"/>
                  </a:lnTo>
                  <a:lnTo>
                    <a:pt x="2481572" y="1169588"/>
                  </a:lnTo>
                  <a:lnTo>
                    <a:pt x="2491359" y="1121155"/>
                  </a:lnTo>
                  <a:lnTo>
                    <a:pt x="2491359" y="124587"/>
                  </a:lnTo>
                  <a:lnTo>
                    <a:pt x="2481572" y="76080"/>
                  </a:lnTo>
                  <a:lnTo>
                    <a:pt x="2454878" y="36480"/>
                  </a:lnTo>
                  <a:lnTo>
                    <a:pt x="2415278" y="9786"/>
                  </a:lnTo>
                  <a:lnTo>
                    <a:pt x="2366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      </a:t>
              </a:r>
              <a:endParaRPr lang="en-US" dirty="0"/>
            </a:p>
            <a:p>
              <a:pPr algn="ctr"/>
              <a:r>
                <a:rPr lang="en-US" dirty="0" smtClean="0"/>
                <a:t>    </a:t>
              </a:r>
              <a:r>
                <a:rPr lang="en-US" b="1" dirty="0" smtClean="0"/>
                <a:t>CRD - Completely</a:t>
              </a:r>
            </a:p>
            <a:p>
              <a:pPr algn="ctr"/>
              <a:r>
                <a:rPr lang="en-US" b="1" dirty="0"/>
                <a:t> </a:t>
              </a:r>
              <a:r>
                <a:rPr lang="en-US" b="1" dirty="0" smtClean="0"/>
                <a:t>Randomized Design</a:t>
              </a:r>
            </a:p>
            <a:p>
              <a:endParaRPr b="1" dirty="0"/>
            </a:p>
          </p:txBody>
        </p:sp>
        <p:sp>
          <p:nvSpPr>
            <p:cNvPr id="46" name="object 17"/>
            <p:cNvSpPr/>
            <p:nvPr/>
          </p:nvSpPr>
          <p:spPr>
            <a:xfrm>
              <a:off x="5486780" y="2288032"/>
              <a:ext cx="2491740" cy="1245870"/>
            </a:xfrm>
            <a:custGeom>
              <a:avLst/>
              <a:gdLst/>
              <a:ahLst/>
              <a:cxnLst/>
              <a:rect l="l" t="t" r="r" b="b"/>
              <a:pathLst>
                <a:path w="2491740" h="1245870">
                  <a:moveTo>
                    <a:pt x="0" y="124587"/>
                  </a:moveTo>
                  <a:lnTo>
                    <a:pt x="9786" y="76080"/>
                  </a:lnTo>
                  <a:lnTo>
                    <a:pt x="36480" y="36480"/>
                  </a:lnTo>
                  <a:lnTo>
                    <a:pt x="76080" y="9786"/>
                  </a:lnTo>
                  <a:lnTo>
                    <a:pt x="124587" y="0"/>
                  </a:lnTo>
                  <a:lnTo>
                    <a:pt x="2366772" y="0"/>
                  </a:lnTo>
                  <a:lnTo>
                    <a:pt x="2415278" y="9786"/>
                  </a:lnTo>
                  <a:lnTo>
                    <a:pt x="2454878" y="36480"/>
                  </a:lnTo>
                  <a:lnTo>
                    <a:pt x="2481572" y="76080"/>
                  </a:lnTo>
                  <a:lnTo>
                    <a:pt x="2491359" y="124587"/>
                  </a:lnTo>
                  <a:lnTo>
                    <a:pt x="2491359" y="1121155"/>
                  </a:lnTo>
                  <a:lnTo>
                    <a:pt x="2481572" y="1169588"/>
                  </a:lnTo>
                  <a:lnTo>
                    <a:pt x="2454878" y="1209151"/>
                  </a:lnTo>
                  <a:lnTo>
                    <a:pt x="2415278" y="1235831"/>
                  </a:lnTo>
                  <a:lnTo>
                    <a:pt x="2366772" y="1245615"/>
                  </a:lnTo>
                  <a:lnTo>
                    <a:pt x="124587" y="1245615"/>
                  </a:lnTo>
                  <a:lnTo>
                    <a:pt x="76080" y="1235831"/>
                  </a:lnTo>
                  <a:lnTo>
                    <a:pt x="36480" y="1209151"/>
                  </a:lnTo>
                  <a:lnTo>
                    <a:pt x="9786" y="1169588"/>
                  </a:lnTo>
                  <a:lnTo>
                    <a:pt x="0" y="1121155"/>
                  </a:lnTo>
                  <a:lnTo>
                    <a:pt x="0" y="124587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cxnSp>
        <p:nvCxnSpPr>
          <p:cNvPr id="47" name="Straight Connector 46"/>
          <p:cNvCxnSpPr/>
          <p:nvPr/>
        </p:nvCxnSpPr>
        <p:spPr>
          <a:xfrm>
            <a:off x="4495800" y="3974046"/>
            <a:ext cx="1076332" cy="2645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638800" y="3740730"/>
            <a:ext cx="213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LSD - Latin Square Design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95218" y="5029200"/>
            <a:ext cx="20009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FD - Factorial Designs </a:t>
            </a:r>
          </a:p>
        </p:txBody>
      </p:sp>
    </p:spTree>
    <p:extLst>
      <p:ext uri="{BB962C8B-B14F-4D97-AF65-F5344CB8AC3E}">
        <p14:creationId xmlns="" xmlns:p14="http://schemas.microsoft.com/office/powerpoint/2010/main" val="272312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object 9"/>
          <p:cNvSpPr txBox="1">
            <a:spLocks/>
          </p:cNvSpPr>
          <p:nvPr/>
        </p:nvSpPr>
        <p:spPr>
          <a:xfrm>
            <a:off x="533400" y="2734637"/>
            <a:ext cx="7391399" cy="38151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smtClean="0"/>
              <a:t> 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533400" y="122640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US" sz="3200" b="1" dirty="0">
              <a:latin typeface="Bookman Old Style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42976" y="843961"/>
            <a:ext cx="701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Completely Randomized Design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1252529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8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Bookman Old Style" pitchFamily="18" charset="0"/>
              </a:rPr>
              <a:t>Completely Randomized design</a:t>
            </a:r>
            <a:r>
              <a:rPr lang="en-US" sz="2200" dirty="0" smtClean="0">
                <a:latin typeface="Bookman Old Style" pitchFamily="18" charset="0"/>
              </a:rPr>
              <a:t>(</a:t>
            </a:r>
            <a:r>
              <a:rPr lang="en-US" sz="2200" b="1" dirty="0" smtClean="0">
                <a:latin typeface="Bookman Old Style" pitchFamily="18" charset="0"/>
              </a:rPr>
              <a:t>CRD</a:t>
            </a:r>
            <a:r>
              <a:rPr lang="en-US" sz="2200" dirty="0" smtClean="0">
                <a:latin typeface="Bookman Old Style" pitchFamily="18" charset="0"/>
              </a:rPr>
              <a:t>)</a:t>
            </a:r>
            <a:r>
              <a:rPr lang="en-IN" sz="2200" dirty="0" smtClean="0">
                <a:latin typeface="Bookman Old Style" pitchFamily="18" charset="0"/>
              </a:rPr>
              <a:t> is a simple experimental design used in data analytics which is based on randomization and replication. It is mostly used for comparing the experiments.</a:t>
            </a:r>
          </a:p>
          <a:p>
            <a:pPr algn="just">
              <a:lnSpc>
                <a:spcPct val="150000"/>
              </a:lnSpc>
            </a:pPr>
            <a:endParaRPr lang="en-IN" sz="8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Bookman Old Style" pitchFamily="18" charset="0"/>
              </a:rPr>
              <a:t>Completely randomized design is one where the treatments are assigned completely at random so that each experimental unit has the same chance of receiving any one treatment.</a:t>
            </a:r>
          </a:p>
          <a:p>
            <a:pPr algn="just">
              <a:lnSpc>
                <a:spcPct val="150000"/>
              </a:lnSpc>
            </a:pPr>
            <a:endParaRPr lang="en-US" sz="22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781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28670"/>
            <a:ext cx="914400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object 9"/>
          <p:cNvSpPr txBox="1">
            <a:spLocks/>
          </p:cNvSpPr>
          <p:nvPr/>
        </p:nvSpPr>
        <p:spPr>
          <a:xfrm>
            <a:off x="533400" y="2734637"/>
            <a:ext cx="7391399" cy="38151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smtClean="0"/>
              <a:t> 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533400" y="122640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US" sz="3200" b="1" dirty="0">
              <a:latin typeface="Bookman Old Style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371600" y="1074002"/>
            <a:ext cx="701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Completely Randomized Design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81325"/>
            <a:ext cx="15049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28800"/>
            <a:ext cx="1878284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191000"/>
            <a:ext cx="1717524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057399"/>
            <a:ext cx="179451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688" y="4191000"/>
            <a:ext cx="1711912" cy="13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2895600"/>
            <a:ext cx="1428750" cy="154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Bent Arrow 29"/>
          <p:cNvSpPr/>
          <p:nvPr/>
        </p:nvSpPr>
        <p:spPr>
          <a:xfrm>
            <a:off x="1752600" y="2057400"/>
            <a:ext cx="914400" cy="86799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/>
          <p:cNvSpPr/>
          <p:nvPr/>
        </p:nvSpPr>
        <p:spPr>
          <a:xfrm flipV="1">
            <a:off x="1828800" y="4441634"/>
            <a:ext cx="838200" cy="81616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4495800" y="2491397"/>
            <a:ext cx="8382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/>
          <p:cNvSpPr/>
          <p:nvPr/>
        </p:nvSpPr>
        <p:spPr>
          <a:xfrm>
            <a:off x="4343400" y="4754881"/>
            <a:ext cx="103128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Bent-Up Arrow 35"/>
          <p:cNvSpPr/>
          <p:nvPr/>
        </p:nvSpPr>
        <p:spPr>
          <a:xfrm>
            <a:off x="7086600" y="4527671"/>
            <a:ext cx="990600" cy="501529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Bent-Up Arrow 51"/>
          <p:cNvSpPr/>
          <p:nvPr/>
        </p:nvSpPr>
        <p:spPr>
          <a:xfrm flipV="1">
            <a:off x="7086600" y="2330329"/>
            <a:ext cx="990600" cy="565271"/>
          </a:xfrm>
          <a:prstGeom prst="bentUpArrow">
            <a:avLst>
              <a:gd name="adj1" fmla="val 25000"/>
              <a:gd name="adj2" fmla="val 26381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8199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0" grpId="0" animBg="1"/>
      <p:bldP spid="32" grpId="0" animBg="1"/>
      <p:bldP spid="33" grpId="0" animBg="1"/>
      <p:bldP spid="46" grpId="0" animBg="1"/>
      <p:bldP spid="36" grpId="0" animBg="1"/>
      <p:bldP spid="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610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1143000"/>
            <a:ext cx="8610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610600" cy="331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2750"/>
            <a:ext cx="62484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17647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object 9"/>
          <p:cNvSpPr txBox="1">
            <a:spLocks/>
          </p:cNvSpPr>
          <p:nvPr/>
        </p:nvSpPr>
        <p:spPr>
          <a:xfrm>
            <a:off x="533400" y="2734637"/>
            <a:ext cx="7391399" cy="38151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smtClean="0"/>
              <a:t> 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533400" y="122640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US" sz="3200" b="1" dirty="0">
              <a:latin typeface="Bookman Old Style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12674"/>
            <a:ext cx="1752600" cy="1740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295400" y="990600"/>
            <a:ext cx="701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Completely Randomized Design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264326"/>
            <a:ext cx="1600200" cy="153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084" y="1828800"/>
            <a:ext cx="2275005" cy="381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828800"/>
            <a:ext cx="3276600" cy="389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31726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object 9"/>
          <p:cNvSpPr txBox="1">
            <a:spLocks/>
          </p:cNvSpPr>
          <p:nvPr/>
        </p:nvSpPr>
        <p:spPr>
          <a:xfrm>
            <a:off x="533400" y="2734637"/>
            <a:ext cx="7391399" cy="38151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smtClean="0"/>
              <a:t> 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533400" y="122640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US" sz="3200" b="1" dirty="0">
              <a:latin typeface="Bookman Old Style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5400" y="990600"/>
            <a:ext cx="701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>
                <a:solidFill>
                  <a:srgbClr val="FF0000"/>
                </a:solidFill>
                <a:latin typeface="Bookman Old Style" pitchFamily="18" charset="0"/>
              </a:rPr>
              <a:t>Completely Randomized Design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83058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23644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object 9"/>
          <p:cNvSpPr txBox="1">
            <a:spLocks/>
          </p:cNvSpPr>
          <p:nvPr/>
        </p:nvSpPr>
        <p:spPr>
          <a:xfrm>
            <a:off x="533400" y="2734637"/>
            <a:ext cx="7391399" cy="38151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smtClean="0"/>
              <a:t> 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533400" y="122640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US" sz="3200" b="1" dirty="0">
              <a:latin typeface="Bookman Old Style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7" y="2133600"/>
            <a:ext cx="8295833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253232" y="838200"/>
            <a:ext cx="56973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ookman Old Style" pitchFamily="18" charset="0"/>
              </a:rPr>
              <a:t>Randomized block Design</a:t>
            </a:r>
            <a:endParaRPr lang="en-US" sz="3200" dirty="0">
              <a:solidFill>
                <a:srgbClr val="FF0000"/>
              </a:solidFill>
              <a:latin typeface="Bookman Old Styl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32" y="1474113"/>
            <a:ext cx="91005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Bookman Old Style" pitchFamily="18" charset="0"/>
              </a:rPr>
              <a:t>The researcher believes that Gender has an effect on the results </a:t>
            </a:r>
            <a:endParaRPr lang="en-US" sz="22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307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66924"/>
            <a:ext cx="190500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0"/>
            <a:ext cx="2343150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1676400"/>
            <a:ext cx="220027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5" y="3109913"/>
            <a:ext cx="23336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2695575"/>
            <a:ext cx="21526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362200"/>
            <a:ext cx="16954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2886075"/>
            <a:ext cx="2095500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2438400"/>
            <a:ext cx="13144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21044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38156" y="1123639"/>
            <a:ext cx="8763000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Bookman Old Style" pitchFamily="18" charset="0"/>
              </a:rPr>
              <a:t>The </a:t>
            </a:r>
            <a:r>
              <a:rPr lang="en-US" sz="2200" dirty="0">
                <a:latin typeface="Bookman Old Style" pitchFamily="18" charset="0"/>
              </a:rPr>
              <a:t>randomized complete block design (</a:t>
            </a:r>
            <a:r>
              <a:rPr lang="en-US" sz="2200" dirty="0" smtClean="0">
                <a:latin typeface="Bookman Old Style" pitchFamily="18" charset="0"/>
              </a:rPr>
              <a:t>RBD</a:t>
            </a:r>
            <a:r>
              <a:rPr lang="en-US" sz="2200" dirty="0">
                <a:latin typeface="Bookman Old Style" pitchFamily="18" charset="0"/>
              </a:rPr>
              <a:t>) is one of the most widely used experimental designs in forestry research. </a:t>
            </a:r>
            <a:r>
              <a:rPr lang="en-IN" sz="2400" dirty="0" smtClean="0">
                <a:latin typeface="Bookman Old Style" pitchFamily="18" charset="0"/>
              </a:rPr>
              <a:t>RBD was originated from the agriculture sector.</a:t>
            </a:r>
            <a:endParaRPr lang="en-US" sz="22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8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Bookman Old Style" pitchFamily="18" charset="0"/>
              </a:rPr>
              <a:t>Randomized Block Design</a:t>
            </a:r>
            <a:r>
              <a:rPr lang="en-IN" sz="2200" dirty="0" smtClean="0">
                <a:latin typeface="Bookman Old Style" pitchFamily="18" charset="0"/>
              </a:rPr>
              <a:t> is an experimental design in which the experiment is divided into small units called blocks. Random experiments are performed on each of the blocks and results are drawn using a technique known as analysis of variance (ANOVA).</a:t>
            </a:r>
            <a:endParaRPr lang="en-US" sz="2200" dirty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2844" y="142852"/>
            <a:ext cx="63834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Bookman Old Style" pitchFamily="18" charset="0"/>
              </a:rPr>
              <a:t>Randomized block Design</a:t>
            </a:r>
            <a:endParaRPr lang="en-US" sz="3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8913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124200"/>
            <a:ext cx="5673835" cy="625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6" y="2164556"/>
            <a:ext cx="1533600" cy="255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914400"/>
            <a:ext cx="9715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486400"/>
            <a:ext cx="9620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71600"/>
            <a:ext cx="60198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10000"/>
            <a:ext cx="6019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371601"/>
            <a:ext cx="1371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10275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28728" y="142852"/>
            <a:ext cx="609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ookman Old Style" pitchFamily="18" charset="0"/>
              </a:rPr>
              <a:t>LSD - Latin Square Design 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282" y="1071546"/>
            <a:ext cx="871543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Bookman Old Style" pitchFamily="18" charset="0"/>
              </a:rPr>
              <a:t>Latin Square Design</a:t>
            </a:r>
            <a:r>
              <a:rPr lang="en-IN" sz="2200" dirty="0" smtClean="0">
                <a:latin typeface="Bookman Old Style" pitchFamily="18" charset="0"/>
              </a:rPr>
              <a:t> is an experimental design that is similar to CRD and RBD blocks but contains rows and columns. It is an arrangement of </a:t>
            </a:r>
            <a:r>
              <a:rPr lang="en-IN" sz="2200" dirty="0" err="1" smtClean="0">
                <a:latin typeface="Bookman Old Style" pitchFamily="18" charset="0"/>
              </a:rPr>
              <a:t>NxN</a:t>
            </a:r>
            <a:r>
              <a:rPr lang="en-IN" sz="2200" dirty="0" smtClean="0">
                <a:latin typeface="Bookman Old Style" pitchFamily="18" charset="0"/>
              </a:rPr>
              <a:t> squares with an equal amount of rows and columns which contain letters that occurs only once in a row. </a:t>
            </a:r>
          </a:p>
          <a:p>
            <a:pPr algn="just">
              <a:lnSpc>
                <a:spcPct val="150000"/>
              </a:lnSpc>
            </a:pPr>
            <a:endParaRPr lang="en-IN" sz="1400" dirty="0" smtClean="0">
              <a:latin typeface="Bookman Old Style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 smtClean="0">
                <a:latin typeface="Bookman Old Style" pitchFamily="18" charset="0"/>
              </a:rPr>
              <a:t>Hence the differences can be easily found with fewer errors in the experiment. Sudoku puzzle is an example of a Latin square design.</a:t>
            </a:r>
            <a:endParaRPr lang="en-IN" sz="2200" dirty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547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7086600" cy="363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05000" y="1143000"/>
            <a:ext cx="6096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Bookman Old Style" pitchFamily="18" charset="0"/>
              </a:rPr>
              <a:t>LSD - Latin Square Design </a:t>
            </a:r>
          </a:p>
        </p:txBody>
      </p:sp>
    </p:spTree>
    <p:extLst>
      <p:ext uri="{BB962C8B-B14F-4D97-AF65-F5344CB8AC3E}">
        <p14:creationId xmlns="" xmlns:p14="http://schemas.microsoft.com/office/powerpoint/2010/main" val="384547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9" y="1447800"/>
            <a:ext cx="8720871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05000" y="914400"/>
            <a:ext cx="6096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Bookman Old Style" pitchFamily="18" charset="0"/>
              </a:rPr>
              <a:t>LSD - Latin Square Design 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76575"/>
            <a:ext cx="716280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4044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622497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4044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8001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4044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914400"/>
            <a:ext cx="5719762" cy="18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67000"/>
            <a:ext cx="6282796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86200"/>
            <a:ext cx="6629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4044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 rot="10800000" flipV="1">
            <a:off x="1981200" y="1503401"/>
            <a:ext cx="53686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Bookman Old Style" pitchFamily="18" charset="0"/>
              </a:rPr>
              <a:t>FD - </a:t>
            </a:r>
            <a:r>
              <a:rPr lang="en-US" sz="3000" b="1" dirty="0" smtClean="0">
                <a:solidFill>
                  <a:srgbClr val="FF0000"/>
                </a:solidFill>
                <a:latin typeface="Bookman Old Style" pitchFamily="18" charset="0"/>
              </a:rPr>
              <a:t>Factorial Designs </a:t>
            </a:r>
            <a:endParaRPr lang="en-US" sz="3000" b="1" dirty="0">
              <a:solidFill>
                <a:srgbClr val="FF0000"/>
              </a:solidFill>
              <a:latin typeface="Bookman Old Style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2362200"/>
            <a:ext cx="8077200" cy="224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itchFamily="18" charset="0"/>
              </a:rPr>
              <a:t>This design allows the experimenter to test two or more variables simultaneously. It also measures interaction effects of the variables and analyzes the impacts of each of the variables. </a:t>
            </a:r>
          </a:p>
        </p:txBody>
      </p:sp>
    </p:spTree>
    <p:extLst>
      <p:ext uri="{BB962C8B-B14F-4D97-AF65-F5344CB8AC3E}">
        <p14:creationId xmlns="" xmlns:p14="http://schemas.microsoft.com/office/powerpoint/2010/main" val="124044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areness Program - 13-05-201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1558429"/>
            <a:ext cx="5500726" cy="37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14282" y="1059404"/>
            <a:ext cx="25875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Bookman Old Style" pitchFamily="18" charset="0"/>
              </a:rPr>
              <a:t>Factorial Designs </a:t>
            </a:r>
            <a:endParaRPr lang="en-IN" sz="2000" dirty="0">
              <a:solidFill>
                <a:srgbClr val="7030A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2214555"/>
            <a:ext cx="4867275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71604" y="2786058"/>
            <a:ext cx="429710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71604" y="3500437"/>
            <a:ext cx="5357850" cy="536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604975" y="4300547"/>
            <a:ext cx="5615833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358</Words>
  <Application>Microsoft Office PowerPoint</Application>
  <PresentationFormat>On-screen Show (4:3)</PresentationFormat>
  <Paragraphs>83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krishna Dheeravath</cp:lastModifiedBy>
  <cp:revision>32</cp:revision>
  <dcterms:created xsi:type="dcterms:W3CDTF">2020-09-13T16:33:54Z</dcterms:created>
  <dcterms:modified xsi:type="dcterms:W3CDTF">2021-09-20T01:46:28Z</dcterms:modified>
</cp:coreProperties>
</file>