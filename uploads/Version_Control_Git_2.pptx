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9" r:id="rId8"/>
    <p:sldId id="270" r:id="rId9"/>
    <p:sldId id="271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7" Type="http://schemas.openxmlformats.org/officeDocument/2006/relationships/image" Target="../media/image4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7" Type="http://schemas.openxmlformats.org/officeDocument/2006/relationships/image" Target="../media/image4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103120"/>
            <a:ext cx="5760720" cy="5760720"/>
          </a:xfrm>
          <a:prstGeom prst="ellipse">
            <a:avLst/>
          </a:prstGeom>
          <a:solidFill>
            <a:srgbClr val="F05133">
              <a:alpha val="1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377440" y="4206240"/>
            <a:ext cx="4572000" cy="4572000"/>
          </a:xfrm>
          <a:prstGeom prst="ellipse">
            <a:avLst/>
          </a:prstGeom>
          <a:solidFill>
            <a:srgbClr val="F05133">
              <a:alpha val="12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Version Control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640080" cy="640080"/>
          </a:xfrm>
          <a:prstGeom prst="ellipse">
            <a:avLst/>
          </a:prstGeom>
          <a:solidFill>
            <a:srgbClr val="2B2B30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4725619"/>
            <a:ext cx="332842" cy="33284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74520" y="4572000"/>
            <a:ext cx="640080" cy="640080"/>
          </a:xfrm>
          <a:prstGeom prst="ellipse">
            <a:avLst/>
          </a:prstGeom>
          <a:solidFill>
            <a:srgbClr val="2B2B30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139" y="4725619"/>
            <a:ext cx="332842" cy="33284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26080" y="4572000"/>
            <a:ext cx="640080" cy="640080"/>
          </a:xfrm>
          <a:prstGeom prst="ellipse">
            <a:avLst/>
          </a:prstGeom>
          <a:solidFill>
            <a:srgbClr val="2B2B30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699" y="4725619"/>
            <a:ext cx="332842" cy="33284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977640" y="4572000"/>
            <a:ext cx="640080" cy="640080"/>
          </a:xfrm>
          <a:prstGeom prst="ellipse">
            <a:avLst/>
          </a:prstGeom>
          <a:solidFill>
            <a:srgbClr val="2B2B30"/>
          </a:solidFill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1259" y="4725619"/>
            <a:ext cx="332842" cy="33284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029200" y="4572000"/>
            <a:ext cx="640080" cy="640080"/>
          </a:xfrm>
          <a:prstGeom prst="ellipse">
            <a:avLst/>
          </a:prstGeom>
          <a:solidFill>
            <a:srgbClr val="2B2B30"/>
          </a:solidFill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2819" y="472561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Version Control?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92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45920"/>
            <a:ext cx="585216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system that records changes to files over time so you can recall specific versions later.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change is tracked: who made it, when, and why — nothing is ever silently lost.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Lets teams work on the same codebase in parallel, then combine their work safely.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0"/>
            <a:ext cx="3474720" cy="3474720"/>
          </a:xfrm>
          <a:prstGeom prst="ellipse">
            <a:avLst/>
          </a:prstGeom>
          <a:solidFill>
            <a:srgbClr val="F0F0EE"/>
          </a:solidFill>
        </p:spPr>
      </p:sp>
      <p:sp>
        <p:nvSpPr>
          <p:cNvPr id="6" name="Shape 4"/>
          <p:cNvSpPr/>
          <p:nvPr/>
        </p:nvSpPr>
        <p:spPr>
          <a:xfrm>
            <a:off x="8869680" y="2926080"/>
            <a:ext cx="1280160" cy="12801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2522" y="3258922"/>
            <a:ext cx="614477" cy="6144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0" y="5440680"/>
            <a:ext cx="4206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51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Every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051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Use Version Control?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481328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209" y="1628729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94560"/>
            <a:ext cx="315468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History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2651760"/>
            <a:ext cx="31546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back to any earlier version of your project at any time.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51960" y="12801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53128" y="1481328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529" y="1628729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2194560"/>
            <a:ext cx="315468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Collaboration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434840" y="2651760"/>
            <a:ext cx="31546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people can work on the same files without overwriting each other.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55280" y="12801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156448" y="1481328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849" y="1628729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38160" y="2194560"/>
            <a:ext cx="315468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Branching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138160" y="2651760"/>
            <a:ext cx="31546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 new ideas in isolation without touching the working codebase.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8404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9808" y="4041648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09" y="4189049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" y="4754880"/>
            <a:ext cx="315468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Net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31520" y="5212080"/>
            <a:ext cx="31546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Mistakes are recoverable — nothing is permanently lost.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251960" y="38404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453128" y="4041648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0529" y="4189049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434840" y="4754880"/>
            <a:ext cx="315468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Merging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434840" y="5212080"/>
            <a:ext cx="31546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parallel work from different people or branches cleanly.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955280" y="38404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156448" y="4041648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3849" y="4189049"/>
            <a:ext cx="272125" cy="27212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138160" y="4754880"/>
            <a:ext cx="315468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Distributed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138160" y="5212080"/>
            <a:ext cx="31546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clone of the repo is a full backup, anywhere in the world.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Types of Version Control Systems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39496" y="14630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33956" y="1783080"/>
            <a:ext cx="731520" cy="731520"/>
          </a:xfrm>
          <a:prstGeom prst="ellipse">
            <a:avLst/>
          </a:prstGeom>
          <a:solidFill>
            <a:srgbClr val="F0F0EE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151" y="197327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" y="2743200"/>
            <a:ext cx="3154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B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Local VCS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13816" y="3291840"/>
            <a:ext cx="29718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simple database on one machine tracks file changes. No collaboration support.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2376" y="5029200"/>
            <a:ext cx="3154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8F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RCS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4256" y="14630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28716" y="1783080"/>
            <a:ext cx="731520" cy="731520"/>
          </a:xfrm>
          <a:prstGeom prst="ellipse">
            <a:avLst/>
          </a:prstGeom>
          <a:solidFill>
            <a:srgbClr val="F0F0EE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911" y="19732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7136" y="2743200"/>
            <a:ext cx="3154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B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Centralized VCS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08576" y="3291840"/>
            <a:ext cx="29718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central server holds all versioned files; clients check out from it.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17136" y="5029200"/>
            <a:ext cx="3154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8F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SVN, Perforce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9016" y="14630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B1B1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523476" y="1783080"/>
            <a:ext cx="731520" cy="731520"/>
          </a:xfrm>
          <a:prstGeom prst="ellipse">
            <a:avLst/>
          </a:prstGeom>
          <a:solidFill>
            <a:srgbClr val="2B2B30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3671" y="197327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11896" y="2743200"/>
            <a:ext cx="3154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Distributed VCS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03336" y="3291840"/>
            <a:ext cx="29718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user has a full copy of the repository, including its entire history.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311896" y="5029200"/>
            <a:ext cx="3154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051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Git, Mercurial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642110" y="1024890"/>
            <a:ext cx="5080000" cy="2169160"/>
          </a:xfrm>
          <a:prstGeom prst="rect">
            <a:avLst/>
          </a:prstGeom>
        </p:spPr>
        <p:txBody>
          <a:bodyPr>
            <a:spAutoFit/>
          </a:bodyPr>
          <a:p>
            <a:pPr indent="0">
              <a:spcAft>
                <a:spcPct val="60000"/>
              </a:spcAft>
              <a:buNone/>
            </a:pPr>
            <a:r>
              <a:rPr lang="en-US" altLang="zh-CN" sz="2400" b="1"/>
              <a:t>Local Version Control System (LVCS):</a:t>
            </a:r>
            <a:endParaRPr lang="en-US" altLang="zh-CN" sz="2400" b="1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sz="1600"/>
              <a:t> </a:t>
            </a:r>
            <a:r>
              <a:rPr lang="en-US" altLang="zh-CN" sz="2400"/>
              <a:t>Stores versions on a single computer. </a:t>
            </a:r>
            <a:endParaRPr lang="en-US" altLang="zh-CN" sz="2400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sz="2400"/>
              <a:t> Suitable for individual users. </a:t>
            </a:r>
            <a:endParaRPr lang="en-US" altLang="zh-CN" sz="2400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sz="2400"/>
              <a:t> No collaboration support.</a:t>
            </a:r>
            <a:endParaRPr lang="en-US" altLang="zh-CN" sz="2400"/>
          </a:p>
        </p:txBody>
      </p:sp>
      <p:sp>
        <p:nvSpPr>
          <p:cNvPr id="3" name="Text Box 2"/>
          <p:cNvSpPr txBox="1"/>
          <p:nvPr/>
        </p:nvSpPr>
        <p:spPr>
          <a:xfrm>
            <a:off x="1454150" y="3428683"/>
            <a:ext cx="5080000" cy="28930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Centralized Version Control System (CVCS):</a:t>
            </a:r>
            <a:endParaRPr lang="en-US" altLang="zh-CN" sz="2200" b="1"/>
          </a:p>
          <a:p>
            <a:pPr indent="0">
              <a:lnSpc>
                <a:spcPct val="120000"/>
              </a:lnSpc>
              <a:buNone/>
            </a:pPr>
            <a:r>
              <a:rPr lang="en-US" altLang="zh-CN" sz="1600"/>
              <a:t>       </a:t>
            </a:r>
            <a:r>
              <a:rPr lang="en-US" altLang="zh-CN" sz="2000"/>
              <a:t> Central Server</a:t>
            </a:r>
            <a:endParaRPr lang="en-US" altLang="zh-CN" sz="2000"/>
          </a:p>
          <a:p>
            <a:pPr indent="0">
              <a:lnSpc>
                <a:spcPct val="120000"/>
              </a:lnSpc>
              <a:buNone/>
            </a:pPr>
            <a:r>
              <a:rPr lang="en-US" altLang="zh-CN" sz="2000"/>
              <a:t>       /      |      \</a:t>
            </a:r>
            <a:endParaRPr lang="en-US" altLang="zh-CN" sz="2000"/>
          </a:p>
          <a:p>
            <a:pPr indent="0">
              <a:lnSpc>
                <a:spcPct val="120000"/>
              </a:lnSpc>
              <a:buNone/>
            </a:pPr>
            <a:r>
              <a:rPr lang="en-US" altLang="zh-CN" sz="2000"/>
              <a:t>      PC1    PC2    PC3</a:t>
            </a:r>
            <a:endParaRPr lang="en-US" altLang="zh-CN" sz="2000"/>
          </a:p>
          <a:p>
            <a:pPr indent="0">
              <a:lnSpc>
                <a:spcPct val="120000"/>
              </a:lnSpc>
              <a:buNone/>
            </a:pPr>
            <a:r>
              <a:rPr lang="en-US" altLang="zh-CN" sz="2000"/>
              <a:t> One central server stores all project files. </a:t>
            </a:r>
            <a:endParaRPr lang="en-US" altLang="zh-CN" sz="2000"/>
          </a:p>
          <a:p>
            <a:pPr indent="0">
              <a:lnSpc>
                <a:spcPct val="120000"/>
              </a:lnSpc>
              <a:buNone/>
            </a:pPr>
            <a:r>
              <a:rPr lang="en-US" altLang="zh-CN" sz="2000"/>
              <a:t> Developers connect to the server to work. </a:t>
            </a:r>
            <a:endParaRPr lang="en-US" altLang="zh-CN" sz="2000"/>
          </a:p>
          <a:p>
            <a:pPr indent="0">
              <a:lnSpc>
                <a:spcPct val="120000"/>
              </a:lnSpc>
              <a:buNone/>
            </a:pPr>
            <a:r>
              <a:rPr lang="en-US" altLang="zh-CN" sz="2000"/>
              <a:t> If the server fails, work may be interrupted.</a:t>
            </a:r>
            <a:endParaRPr lang="en-US" altLang="zh-CN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280285" y="1028065"/>
            <a:ext cx="7762240" cy="474091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lang="en-US" altLang="zh-CN" sz="2400" b="1"/>
              <a:t>Distributed Version Control System (DVCS):</a:t>
            </a:r>
            <a:endParaRPr lang="en-US" altLang="zh-CN" sz="2400" b="1"/>
          </a:p>
          <a:p>
            <a:pPr algn="ctr"/>
            <a:r>
              <a:rPr lang="en-US" altLang="zh-CN" sz="1600"/>
              <a:t>   </a:t>
            </a:r>
            <a:r>
              <a:rPr lang="en-US" altLang="zh-CN" sz="2800"/>
              <a:t>   GitHub Repository</a:t>
            </a:r>
            <a:endParaRPr lang="en-US" altLang="zh-CN" sz="2800"/>
          </a:p>
          <a:p>
            <a:pPr algn="ctr"/>
            <a:r>
              <a:rPr lang="en-US" altLang="zh-CN" sz="2800"/>
              <a:t>         /      |      \</a:t>
            </a:r>
            <a:endParaRPr lang="en-US" altLang="zh-CN" sz="2800"/>
          </a:p>
          <a:p>
            <a:pPr algn="ctr"/>
            <a:r>
              <a:rPr lang="en-US" altLang="zh-CN" sz="2800"/>
              <a:t>      Git     Git     Git</a:t>
            </a:r>
            <a:endParaRPr lang="en-US" altLang="zh-CN" sz="2800"/>
          </a:p>
          <a:p>
            <a:pPr algn="ctr"/>
            <a:r>
              <a:rPr lang="en-US" altLang="zh-CN" sz="2800"/>
              <a:t>      PC1     PC2     PC3</a:t>
            </a:r>
            <a:endParaRPr lang="en-US" altLang="zh-CN" sz="2800"/>
          </a:p>
          <a:p>
            <a:pPr indent="0" algn="ctr">
              <a:lnSpc>
                <a:spcPct val="130000"/>
              </a:lnSpc>
              <a:buNone/>
            </a:pPr>
            <a:r>
              <a:rPr lang="en-US" altLang="zh-CN" sz="2800"/>
              <a:t> </a:t>
            </a:r>
            <a:endParaRPr lang="en-US" altLang="zh-CN" sz="2800"/>
          </a:p>
          <a:p>
            <a:pPr indent="0">
              <a:lnSpc>
                <a:spcPct val="130000"/>
              </a:lnSpc>
              <a:buNone/>
            </a:pPr>
            <a:endParaRPr lang="en-US" altLang="zh-CN" sz="1600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sz="2400"/>
              <a:t> Every developer has a complete copy of the repository. </a:t>
            </a:r>
            <a:endParaRPr lang="en-US" altLang="zh-CN" sz="2400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sz="2400"/>
              <a:t> Work can continue even without an internet connection. </a:t>
            </a:r>
            <a:endParaRPr lang="en-US" altLang="zh-CN" sz="2400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sz="2400"/>
              <a:t> Changes are synchronized later.</a:t>
            </a:r>
            <a:endParaRPr lang="en-US" altLang="zh-CN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853440" y="1787525"/>
          <a:ext cx="10119360" cy="4321175"/>
        </p:xfrm>
        <a:graphic>
          <a:graphicData uri="http://schemas.openxmlformats.org/drawingml/2006/table">
            <a:tbl>
              <a:tblPr/>
              <a:tblGrid>
                <a:gridCol w="2529840"/>
                <a:gridCol w="2529840"/>
                <a:gridCol w="2529840"/>
                <a:gridCol w="2529840"/>
              </a:tblGrid>
              <a:tr h="498475">
                <a:tc>
                  <a:txBody>
                    <a:bodyPr/>
                    <a:p>
                      <a:r>
                        <a:rPr lang="en-US" altLang="zh-CN" sz="2000" b="1"/>
                        <a:t>Feature</a:t>
                      </a:r>
                      <a:endParaRPr lang="en-US" altLang="zh-CN"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1"/>
                        <a:t>Local VCS</a:t>
                      </a:r>
                      <a:endParaRPr lang="en-US" altLang="zh-CN"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1"/>
                        <a:t>Centralized VCS</a:t>
                      </a:r>
                      <a:endParaRPr lang="en-US" altLang="zh-CN"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1"/>
                        <a:t>Distributed VCS</a:t>
                      </a:r>
                      <a:endParaRPr lang="en-US" altLang="zh-CN"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8475">
                <a:tc>
                  <a:txBody>
                    <a:bodyPr/>
                    <a:p>
                      <a:r>
                        <a:rPr lang="en-US" altLang="zh-CN" sz="2000" b="0"/>
                        <a:t>Repository Location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One computer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Central server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Every developer has a full copy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8475">
                <a:tc>
                  <a:txBody>
                    <a:bodyPr/>
                    <a:p>
                      <a:r>
                        <a:rPr lang="en-US" altLang="zh-CN" sz="2000" b="0"/>
                        <a:t>Internet Required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No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Yes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Only for synchronization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8475">
                <a:tc>
                  <a:txBody>
                    <a:bodyPr/>
                    <a:p>
                      <a:r>
                        <a:rPr lang="en-US" altLang="zh-CN" sz="2000" b="0"/>
                        <a:t>Team Collaboration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No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Yes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Yes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8475">
                <a:tc>
                  <a:txBody>
                    <a:bodyPr/>
                    <a:p>
                      <a:r>
                        <a:rPr lang="en-US" altLang="zh-CN" sz="2000" b="0"/>
                        <a:t>Backup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Poor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Central server only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Excellent (every copy is a backup)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8475">
                <a:tc>
                  <a:txBody>
                    <a:bodyPr/>
                    <a:p>
                      <a:r>
                        <a:rPr lang="en-US" altLang="zh-CN" sz="2000" b="0"/>
                        <a:t>Server Failure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Not applicable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Everyone is affected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Developers can continue working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8475">
                <a:tc>
                  <a:txBody>
                    <a:bodyPr/>
                    <a:p>
                      <a:r>
                        <a:rPr lang="en-US" altLang="zh-CN" sz="2000" b="0"/>
                        <a:t>Examples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RCS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SVN, Perforce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b="0"/>
                        <a:t>Git</a:t>
                      </a: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8475">
                <a:tc>
                  <a:txBody>
                    <a:bodyPr/>
                    <a:p>
                      <a:pPr>
                        <a:buNone/>
                      </a:pP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2000" b="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Git's Three Areas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51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Git-tracked file moves through these stages before it's permanently recorded.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377440"/>
            <a:ext cx="731520" cy="7315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4715" y="25676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91840"/>
            <a:ext cx="29260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Directory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28346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local files as you edit them on disk.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913632" y="3246120"/>
            <a:ext cx="85953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5133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39312" y="384048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add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210312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80760" y="2377440"/>
            <a:ext cx="731520" cy="7315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955" y="256763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83480" y="3291840"/>
            <a:ext cx="29260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Staging Area (Index)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029200" y="3886200"/>
            <a:ext cx="28346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Changes marked and ready to be committed.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119872" y="3246120"/>
            <a:ext cx="85953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5133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7845552" y="384048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052560" y="210312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0287000" y="2377440"/>
            <a:ext cx="731520" cy="7315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195" y="256763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89720" y="3291840"/>
            <a:ext cx="29260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 (.git)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9235440" y="3886200"/>
            <a:ext cx="28346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Committed snapshots stored permanently in history.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Architecture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Essential Git Commands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13232" y="1344168"/>
            <a:ext cx="32369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init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764792"/>
            <a:ext cx="3236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new, empty Git repository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79392" y="123444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43984" y="1344168"/>
            <a:ext cx="32369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clone &lt;url&gt;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43984" y="1764792"/>
            <a:ext cx="3236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Copy an existing repository to your machine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10144" y="123444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74736" y="1344168"/>
            <a:ext cx="32369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status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74736" y="1764792"/>
            <a:ext cx="3236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changed / staged / untracked files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2724912"/>
            <a:ext cx="32369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add &lt;file&gt;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" y="3145536"/>
            <a:ext cx="3236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changes for the next commit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79392" y="2615184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43984" y="2724912"/>
            <a:ext cx="32369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commit -m "msg"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43984" y="3145536"/>
            <a:ext cx="3236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 staged changes to history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10144" y="2615184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74736" y="2724912"/>
            <a:ext cx="32369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log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174736" y="3145536"/>
            <a:ext cx="3236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the commit history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995928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" y="4105656"/>
            <a:ext cx="32369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branch &lt;name&gt;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3232" y="4526280"/>
            <a:ext cx="3236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new branch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9392" y="3995928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43984" y="4105656"/>
            <a:ext cx="32369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checkout &lt;branch&gt;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443984" y="4526280"/>
            <a:ext cx="3236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to another branch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10144" y="3995928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174736" y="4105656"/>
            <a:ext cx="32369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merge &lt;branch&gt;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174736" y="4526280"/>
            <a:ext cx="3236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another branch into the current one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76672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3232" y="5486400"/>
            <a:ext cx="32369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push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13232" y="5907024"/>
            <a:ext cx="3236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local commits to a remote repository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79392" y="5376672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443984" y="5486400"/>
            <a:ext cx="32369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pull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443984" y="5907024"/>
            <a:ext cx="3236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 and merge changes from a remote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10144" y="5376672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174736" y="5486400"/>
            <a:ext cx="323697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diff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174736" y="5907024"/>
            <a:ext cx="3236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line-by-line changes not yet staged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Commands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Branching &amp; Merging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51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Branches let you develop features in isolation, then merge them back into main.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2926080"/>
            <a:ext cx="9692640" cy="0"/>
          </a:xfrm>
          <a:prstGeom prst="line">
            <a:avLst/>
          </a:prstGeom>
          <a:noFill/>
          <a:ln w="38100">
            <a:solidFill>
              <a:srgbClr val="1B1B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2843784"/>
            <a:ext cx="164592" cy="164592"/>
          </a:xfrm>
          <a:prstGeom prst="ellipse">
            <a:avLst/>
          </a:prstGeom>
          <a:solidFill>
            <a:srgbClr val="1B1B1F"/>
          </a:solidFill>
        </p:spPr>
      </p:sp>
      <p:sp>
        <p:nvSpPr>
          <p:cNvPr id="6" name="Shape 4"/>
          <p:cNvSpPr/>
          <p:nvPr/>
        </p:nvSpPr>
        <p:spPr>
          <a:xfrm>
            <a:off x="3026664" y="2843784"/>
            <a:ext cx="164592" cy="164592"/>
          </a:xfrm>
          <a:prstGeom prst="ellipse">
            <a:avLst/>
          </a:prstGeom>
          <a:solidFill>
            <a:srgbClr val="1B1B1F"/>
          </a:solidFill>
        </p:spPr>
      </p:sp>
      <p:sp>
        <p:nvSpPr>
          <p:cNvPr id="7" name="Shape 5"/>
          <p:cNvSpPr/>
          <p:nvPr/>
        </p:nvSpPr>
        <p:spPr>
          <a:xfrm>
            <a:off x="8787384" y="2843784"/>
            <a:ext cx="164592" cy="164592"/>
          </a:xfrm>
          <a:prstGeom prst="ellipse">
            <a:avLst/>
          </a:prstGeom>
          <a:solidFill>
            <a:srgbClr val="1B1B1F"/>
          </a:solidFill>
        </p:spPr>
      </p:sp>
      <p:sp>
        <p:nvSpPr>
          <p:cNvPr id="8" name="Shape 6"/>
          <p:cNvSpPr/>
          <p:nvPr/>
        </p:nvSpPr>
        <p:spPr>
          <a:xfrm>
            <a:off x="10707624" y="2843784"/>
            <a:ext cx="164592" cy="164592"/>
          </a:xfrm>
          <a:prstGeom prst="ellipse">
            <a:avLst/>
          </a:prstGeom>
          <a:solidFill>
            <a:srgbClr val="1B1B1F"/>
          </a:solidFill>
        </p:spPr>
      </p:sp>
      <p:sp>
        <p:nvSpPr>
          <p:cNvPr id="9" name="Text 7"/>
          <p:cNvSpPr/>
          <p:nvPr/>
        </p:nvSpPr>
        <p:spPr>
          <a:xfrm>
            <a:off x="822960" y="310896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1737360"/>
            <a:ext cx="5760720" cy="0"/>
          </a:xfrm>
          <a:prstGeom prst="line">
            <a:avLst/>
          </a:prstGeom>
          <a:noFill/>
          <a:ln w="38100">
            <a:solidFill>
              <a:srgbClr val="F051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737360"/>
            <a:ext cx="0" cy="1188720"/>
          </a:xfrm>
          <a:prstGeom prst="line">
            <a:avLst/>
          </a:prstGeom>
          <a:noFill/>
          <a:ln w="25400">
            <a:solidFill>
              <a:srgbClr val="F05133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869680" y="1737360"/>
            <a:ext cx="0" cy="1188720"/>
          </a:xfrm>
          <a:prstGeom prst="line">
            <a:avLst/>
          </a:prstGeom>
          <a:noFill/>
          <a:ln w="25400">
            <a:solidFill>
              <a:srgbClr val="F0513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398264" y="1655064"/>
            <a:ext cx="164592" cy="164592"/>
          </a:xfrm>
          <a:prstGeom prst="ellipse">
            <a:avLst/>
          </a:prstGeom>
          <a:solidFill>
            <a:srgbClr val="F05133"/>
          </a:solidFill>
        </p:spPr>
      </p:sp>
      <p:sp>
        <p:nvSpPr>
          <p:cNvPr id="14" name="Shape 12"/>
          <p:cNvSpPr/>
          <p:nvPr/>
        </p:nvSpPr>
        <p:spPr>
          <a:xfrm>
            <a:off x="5952744" y="1655064"/>
            <a:ext cx="164592" cy="164592"/>
          </a:xfrm>
          <a:prstGeom prst="ellipse">
            <a:avLst/>
          </a:prstGeom>
          <a:solidFill>
            <a:srgbClr val="F05133"/>
          </a:solidFill>
        </p:spPr>
      </p:sp>
      <p:sp>
        <p:nvSpPr>
          <p:cNvPr id="15" name="Shape 13"/>
          <p:cNvSpPr/>
          <p:nvPr/>
        </p:nvSpPr>
        <p:spPr>
          <a:xfrm>
            <a:off x="7507224" y="1655064"/>
            <a:ext cx="164592" cy="164592"/>
          </a:xfrm>
          <a:prstGeom prst="ellipse">
            <a:avLst/>
          </a:prstGeom>
          <a:solidFill>
            <a:srgbClr val="F05133"/>
          </a:solidFill>
        </p:spPr>
      </p:sp>
      <p:sp>
        <p:nvSpPr>
          <p:cNvPr id="16" name="Text 14"/>
          <p:cNvSpPr/>
          <p:nvPr/>
        </p:nvSpPr>
        <p:spPr>
          <a:xfrm>
            <a:off x="2834640" y="123444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51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feature/login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310896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 created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3108960"/>
            <a:ext cx="1645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merged back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" y="4114800"/>
            <a:ext cx="9692640" cy="2011680"/>
          </a:xfrm>
          <a:prstGeom prst="roundRect">
            <a:avLst>
              <a:gd name="adj" fmla="val 2727"/>
            </a:avLst>
          </a:prstGeom>
          <a:solidFill>
            <a:srgbClr val="16161A"/>
          </a:solidFill>
        </p:spPr>
      </p:sp>
      <p:sp>
        <p:nvSpPr>
          <p:cNvPr id="20" name="Shape 18"/>
          <p:cNvSpPr/>
          <p:nvPr/>
        </p:nvSpPr>
        <p:spPr>
          <a:xfrm>
            <a:off x="1280160" y="4279392"/>
            <a:ext cx="118872" cy="118872"/>
          </a:xfrm>
          <a:prstGeom prst="ellipse">
            <a:avLst/>
          </a:prstGeom>
          <a:solidFill>
            <a:srgbClr val="FF5F56"/>
          </a:solidFill>
        </p:spPr>
      </p:sp>
      <p:sp>
        <p:nvSpPr>
          <p:cNvPr id="21" name="Shape 19"/>
          <p:cNvSpPr/>
          <p:nvPr/>
        </p:nvSpPr>
        <p:spPr>
          <a:xfrm>
            <a:off x="1499616" y="4279392"/>
            <a:ext cx="118872" cy="118872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22" name="Shape 20"/>
          <p:cNvSpPr/>
          <p:nvPr/>
        </p:nvSpPr>
        <p:spPr>
          <a:xfrm>
            <a:off x="1719072" y="4279392"/>
            <a:ext cx="118872" cy="118872"/>
          </a:xfrm>
          <a:prstGeom prst="ellipse">
            <a:avLst/>
          </a:prstGeom>
          <a:solidFill>
            <a:srgbClr val="27C93F"/>
          </a:solidFill>
        </p:spPr>
      </p:sp>
      <p:sp>
        <p:nvSpPr>
          <p:cNvPr id="23" name="Text 21"/>
          <p:cNvSpPr/>
          <p:nvPr/>
        </p:nvSpPr>
        <p:spPr>
          <a:xfrm>
            <a:off x="1325880" y="4572000"/>
            <a:ext cx="923544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7C93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branch feature/login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7C93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checkout feature/login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...make commits on the branch...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7C93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checkout main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7C93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merge feature/login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Branching &amp; Merging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Git in Action: A Worked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51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Starting a new project and saving your first change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26262B"/>
          </a:solidFill>
        </p:spPr>
      </p:sp>
      <p:sp>
        <p:nvSpPr>
          <p:cNvPr id="5" name="Shape 3"/>
          <p:cNvSpPr/>
          <p:nvPr/>
        </p:nvSpPr>
        <p:spPr>
          <a:xfrm>
            <a:off x="731520" y="1961388"/>
            <a:ext cx="512064" cy="512064"/>
          </a:xfrm>
          <a:prstGeom prst="ellipse">
            <a:avLst/>
          </a:prstGeom>
          <a:solidFill>
            <a:srgbClr val="F05133"/>
          </a:solidFill>
        </p:spPr>
      </p:sp>
      <p:sp>
        <p:nvSpPr>
          <p:cNvPr id="6" name="Text 4"/>
          <p:cNvSpPr/>
          <p:nvPr/>
        </p:nvSpPr>
        <p:spPr>
          <a:xfrm>
            <a:off x="731520" y="196138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Initialize the repository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82880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C93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git init my-app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2258568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a new .git folder to start tracking the project.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26262B"/>
          </a:solidFill>
        </p:spPr>
      </p:sp>
      <p:sp>
        <p:nvSpPr>
          <p:cNvPr id="11" name="Shape 9"/>
          <p:cNvSpPr/>
          <p:nvPr/>
        </p:nvSpPr>
        <p:spPr>
          <a:xfrm>
            <a:off x="731520" y="3195828"/>
            <a:ext cx="512064" cy="512064"/>
          </a:xfrm>
          <a:prstGeom prst="ellipse">
            <a:avLst/>
          </a:prstGeom>
          <a:solidFill>
            <a:srgbClr val="F05133"/>
          </a:solidFill>
        </p:spPr>
      </p:sp>
      <p:sp>
        <p:nvSpPr>
          <p:cNvPr id="12" name="Text 10"/>
          <p:cNvSpPr/>
          <p:nvPr/>
        </p:nvSpPr>
        <p:spPr>
          <a:xfrm>
            <a:off x="731520" y="319582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035808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the status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06324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C93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git status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3493008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README.md as an untracked file.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26262B"/>
          </a:solidFill>
        </p:spPr>
      </p:sp>
      <p:sp>
        <p:nvSpPr>
          <p:cNvPr id="17" name="Shape 15"/>
          <p:cNvSpPr/>
          <p:nvPr/>
        </p:nvSpPr>
        <p:spPr>
          <a:xfrm>
            <a:off x="731520" y="4430268"/>
            <a:ext cx="512064" cy="512064"/>
          </a:xfrm>
          <a:prstGeom prst="ellipse">
            <a:avLst/>
          </a:prstGeom>
          <a:solidFill>
            <a:srgbClr val="F05133"/>
          </a:solidFill>
        </p:spPr>
      </p:sp>
      <p:sp>
        <p:nvSpPr>
          <p:cNvPr id="18" name="Text 16"/>
          <p:cNvSpPr/>
          <p:nvPr/>
        </p:nvSpPr>
        <p:spPr>
          <a:xfrm>
            <a:off x="731520" y="443026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270248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the file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429768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C93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git add README.md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4727448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Moves the file into the staging area, ready to commit.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26262B"/>
          </a:solidFill>
        </p:spPr>
      </p:sp>
      <p:sp>
        <p:nvSpPr>
          <p:cNvPr id="23" name="Shape 21"/>
          <p:cNvSpPr/>
          <p:nvPr/>
        </p:nvSpPr>
        <p:spPr>
          <a:xfrm>
            <a:off x="731520" y="5664708"/>
            <a:ext cx="512064" cy="512064"/>
          </a:xfrm>
          <a:prstGeom prst="ellipse">
            <a:avLst/>
          </a:prstGeom>
          <a:solidFill>
            <a:srgbClr val="F05133"/>
          </a:solidFill>
        </p:spPr>
      </p:sp>
      <p:sp>
        <p:nvSpPr>
          <p:cNvPr id="24" name="Text 22"/>
          <p:cNvSpPr/>
          <p:nvPr/>
        </p:nvSpPr>
        <p:spPr>
          <a:xfrm>
            <a:off x="731520" y="566470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5504688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 the change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553212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C93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git commit -m "Initial commit"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46320" y="5961888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Saves a permanent snapshot with a message.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Example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Git in Action: Sharing Your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51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Connecting to a remote (e.g. GitHub) and syncing changes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40280" y="1965960"/>
            <a:ext cx="640080" cy="640080"/>
          </a:xfrm>
          <a:prstGeom prst="ellipse">
            <a:avLst/>
          </a:prstGeom>
          <a:solidFill>
            <a:srgbClr val="F0F0EE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70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78892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Repository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1546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machine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55280" y="173736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1B1B1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281160" y="1965960"/>
            <a:ext cx="640080" cy="640080"/>
          </a:xfrm>
          <a:prstGeom prst="ellipse">
            <a:avLst/>
          </a:prstGeom>
          <a:solidFill>
            <a:srgbClr val="2B2B3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581" y="21323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0" y="278892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Remote Repository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046720" y="31546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051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GitHub, GitLab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06240" y="2286000"/>
            <a:ext cx="3749040" cy="0"/>
          </a:xfrm>
          <a:prstGeom prst="line">
            <a:avLst/>
          </a:prstGeom>
          <a:noFill/>
          <a:ln w="31750">
            <a:solidFill>
              <a:srgbClr val="F05133"/>
            </a:solidFill>
            <a:prstDash val="solid"/>
            <a:tailEnd type="arrow"/>
          </a:ln>
        </p:spPr>
      </p:sp>
      <p:sp>
        <p:nvSpPr>
          <p:cNvPr id="15" name="Text 11"/>
          <p:cNvSpPr/>
          <p:nvPr/>
        </p:nvSpPr>
        <p:spPr>
          <a:xfrm>
            <a:off x="4206240" y="19659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51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push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206240" y="3108960"/>
            <a:ext cx="37490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headEnd type="none"/>
            <a:tailEnd type="arrow"/>
          </a:ln>
        </p:spPr>
      </p:sp>
      <p:sp>
        <p:nvSpPr>
          <p:cNvPr id="17" name="Text 13"/>
          <p:cNvSpPr/>
          <p:nvPr/>
        </p:nvSpPr>
        <p:spPr>
          <a:xfrm>
            <a:off x="4206240" y="315468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pull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14400" y="4023360"/>
            <a:ext cx="10332720" cy="2194560"/>
          </a:xfrm>
          <a:prstGeom prst="roundRect">
            <a:avLst>
              <a:gd name="adj" fmla="val 2500"/>
            </a:avLst>
          </a:prstGeom>
          <a:solidFill>
            <a:srgbClr val="16161A"/>
          </a:solidFill>
        </p:spPr>
      </p:sp>
      <p:sp>
        <p:nvSpPr>
          <p:cNvPr id="19" name="Shape 15"/>
          <p:cNvSpPr/>
          <p:nvPr/>
        </p:nvSpPr>
        <p:spPr>
          <a:xfrm>
            <a:off x="1097280" y="4187952"/>
            <a:ext cx="118872" cy="118872"/>
          </a:xfrm>
          <a:prstGeom prst="ellipse">
            <a:avLst/>
          </a:prstGeom>
          <a:solidFill>
            <a:srgbClr val="FF5F56"/>
          </a:solidFill>
        </p:spPr>
      </p:sp>
      <p:sp>
        <p:nvSpPr>
          <p:cNvPr id="20" name="Shape 16"/>
          <p:cNvSpPr/>
          <p:nvPr/>
        </p:nvSpPr>
        <p:spPr>
          <a:xfrm>
            <a:off x="1316736" y="4187952"/>
            <a:ext cx="118872" cy="118872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21" name="Shape 17"/>
          <p:cNvSpPr/>
          <p:nvPr/>
        </p:nvSpPr>
        <p:spPr>
          <a:xfrm>
            <a:off x="1536192" y="4187952"/>
            <a:ext cx="118872" cy="118872"/>
          </a:xfrm>
          <a:prstGeom prst="ellipse">
            <a:avLst/>
          </a:prstGeom>
          <a:solidFill>
            <a:srgbClr val="27C93F"/>
          </a:solidFill>
        </p:spPr>
      </p:sp>
      <p:sp>
        <p:nvSpPr>
          <p:cNvPr id="22" name="Text 18"/>
          <p:cNvSpPr/>
          <p:nvPr/>
        </p:nvSpPr>
        <p:spPr>
          <a:xfrm>
            <a:off x="1143000" y="4480560"/>
            <a:ext cx="987552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link a local repo to a remote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7C93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remote add origin https://github.com/user/my-app.git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publish the local branch and its commits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7C93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push -u origin main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later, get teammates' latest changes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7C93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pull origin main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Example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DevOps Lifecycle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51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8-phase continuous loop — code flows through Git as it moves from idea to production and back again.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568696" y="1839773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D8D5"/>
            </a:solidFill>
            <a:prstDash val="solid"/>
          </a:ln>
          <a:effectLst>
            <a:outerShdw blurRad="63500" dist="127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5876" y="2063801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62956" y="2598725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958840" y="2311942"/>
            <a:ext cx="1051560" cy="1051560"/>
          </a:xfrm>
          <a:prstGeom prst="ellipse">
            <a:avLst/>
          </a:prstGeom>
          <a:solidFill>
            <a:srgbClr val="F05133"/>
          </a:solidFill>
          <a:ln w="19050">
            <a:solidFill>
              <a:srgbClr val="F05133"/>
            </a:solidFill>
            <a:prstDash val="solid"/>
          </a:ln>
          <a:effectLst>
            <a:outerShdw blurRad="63500" dist="127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020" y="253597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53100" y="3070894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51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534656" y="345186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D8D5"/>
            </a:solidFill>
            <a:prstDash val="solid"/>
          </a:ln>
          <a:effectLst>
            <a:outerShdw blurRad="63500" dist="127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836" y="367588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28916" y="421081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958840" y="4591778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D8D5"/>
            </a:solidFill>
            <a:prstDash val="solid"/>
          </a:ln>
          <a:effectLst>
            <a:outerShdw blurRad="63500" dist="127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020" y="4815806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53100" y="535073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568696" y="5063947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D8D5"/>
            </a:solidFill>
            <a:prstDash val="solid"/>
          </a:ln>
          <a:effectLst>
            <a:outerShdw blurRad="63500" dist="127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5876" y="5287975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62956" y="5822899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Release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4178552" y="4591778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D8D5"/>
            </a:solidFill>
            <a:prstDash val="solid"/>
          </a:ln>
          <a:effectLst>
            <a:outerShdw blurRad="63500" dist="127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732" y="4815806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972812" y="535073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3602736" y="345186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D8D5"/>
            </a:solidFill>
            <a:prstDash val="solid"/>
          </a:ln>
          <a:effectLst>
            <a:outerShdw blurRad="63500" dist="127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9916" y="3675888"/>
            <a:ext cx="457200" cy="4572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396996" y="421081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Operate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4178552" y="2311942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D8D5"/>
            </a:solidFill>
            <a:prstDash val="solid"/>
          </a:ln>
          <a:effectLst>
            <a:outerShdw blurRad="63500" dist="127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5732" y="2535970"/>
            <a:ext cx="457200" cy="4572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972812" y="3070894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</a:t>
            </a:r>
            <a:endParaRPr lang="en-US" sz="1150" dirty="0"/>
          </a:p>
        </p:txBody>
      </p:sp>
      <p:sp>
        <p:nvSpPr>
          <p:cNvPr id="28" name="Text 18"/>
          <p:cNvSpPr/>
          <p:nvPr/>
        </p:nvSpPr>
        <p:spPr>
          <a:xfrm>
            <a:off x="5271516" y="365760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1B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Git</a:t>
            </a:r>
            <a:endParaRPr lang="en-US" sz="2200" dirty="0"/>
          </a:p>
        </p:txBody>
      </p:sp>
      <p:sp>
        <p:nvSpPr>
          <p:cNvPr id="29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DevOps Lifecycle</a:t>
            </a:r>
            <a:endParaRPr lang="en-US" sz="1000" dirty="0"/>
          </a:p>
        </p:txBody>
      </p:sp>
      <p:sp>
        <p:nvSpPr>
          <p:cNvPr id="30" name="Text 2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DevOps Lifecycle: Tools in 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51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real-world toolchain — one popular example tool teams commonly use at each phase.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0F0EE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764792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49" y="189792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" y="2377440"/>
            <a:ext cx="24048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9224" y="2697480"/>
            <a:ext cx="2404872" cy="411480"/>
          </a:xfrm>
          <a:prstGeom prst="roundRect">
            <a:avLst>
              <a:gd name="adj" fmla="val 13333"/>
            </a:avLst>
          </a:prstGeom>
          <a:solidFill>
            <a:srgbClr val="F05133"/>
          </a:solidFill>
        </p:spPr>
      </p:sp>
      <p:sp>
        <p:nvSpPr>
          <p:cNvPr id="9" name="Text 6"/>
          <p:cNvSpPr/>
          <p:nvPr/>
        </p:nvSpPr>
        <p:spPr>
          <a:xfrm>
            <a:off x="649224" y="2697480"/>
            <a:ext cx="24048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Jira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9224" y="3227832"/>
            <a:ext cx="2404872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requirements, backlogs, and sprints.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64992" y="160020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0F0EE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9584" y="1764792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721" y="1897929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377440"/>
            <a:ext cx="24048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511296" y="2697480"/>
            <a:ext cx="2404872" cy="411480"/>
          </a:xfrm>
          <a:prstGeom prst="roundRect">
            <a:avLst>
              <a:gd name="adj" fmla="val 13333"/>
            </a:avLst>
          </a:prstGeom>
          <a:solidFill>
            <a:srgbClr val="F05133"/>
          </a:solidFill>
        </p:spPr>
      </p:sp>
      <p:sp>
        <p:nvSpPr>
          <p:cNvPr id="16" name="Text 12"/>
          <p:cNvSpPr/>
          <p:nvPr/>
        </p:nvSpPr>
        <p:spPr>
          <a:xfrm>
            <a:off x="3511296" y="2697480"/>
            <a:ext cx="24048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11296" y="3227832"/>
            <a:ext cx="2404872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Version-control source code as it's written.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27064" y="160020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0F0EE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91656" y="1764792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3" y="1897929"/>
            <a:ext cx="245791" cy="24579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73368" y="2377440"/>
            <a:ext cx="24048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73368" y="2697480"/>
            <a:ext cx="2404872" cy="411480"/>
          </a:xfrm>
          <a:prstGeom prst="roundRect">
            <a:avLst>
              <a:gd name="adj" fmla="val 13333"/>
            </a:avLst>
          </a:prstGeom>
          <a:solidFill>
            <a:srgbClr val="F05133"/>
          </a:solidFill>
        </p:spPr>
      </p:sp>
      <p:sp>
        <p:nvSpPr>
          <p:cNvPr id="23" name="Text 18"/>
          <p:cNvSpPr/>
          <p:nvPr/>
        </p:nvSpPr>
        <p:spPr>
          <a:xfrm>
            <a:off x="6373368" y="2697480"/>
            <a:ext cx="24048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Jenkins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373368" y="3227832"/>
            <a:ext cx="2404872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 code and package it automatically.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089136" y="160020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0F0EE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53728" y="1764792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865" y="1897929"/>
            <a:ext cx="245791" cy="24579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35440" y="2377440"/>
            <a:ext cx="24048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9235440" y="2697480"/>
            <a:ext cx="2404872" cy="411480"/>
          </a:xfrm>
          <a:prstGeom prst="roundRect">
            <a:avLst>
              <a:gd name="adj" fmla="val 13333"/>
            </a:avLst>
          </a:prstGeom>
          <a:solidFill>
            <a:srgbClr val="F05133"/>
          </a:solidFill>
        </p:spPr>
      </p:sp>
      <p:sp>
        <p:nvSpPr>
          <p:cNvPr id="30" name="Text 24"/>
          <p:cNvSpPr/>
          <p:nvPr/>
        </p:nvSpPr>
        <p:spPr>
          <a:xfrm>
            <a:off x="9235440" y="2697480"/>
            <a:ext cx="24048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Selenium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9235440" y="3227832"/>
            <a:ext cx="2404872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automated tests against every build.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02920" y="4069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0F0EE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67512" y="4233672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649" y="4366809"/>
            <a:ext cx="245791" cy="245791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49224" y="4846320"/>
            <a:ext cx="24048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Release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49224" y="5166360"/>
            <a:ext cx="2404872" cy="411480"/>
          </a:xfrm>
          <a:prstGeom prst="roundRect">
            <a:avLst>
              <a:gd name="adj" fmla="val 13333"/>
            </a:avLst>
          </a:prstGeom>
          <a:solidFill>
            <a:srgbClr val="F05133"/>
          </a:solidFill>
        </p:spPr>
      </p:sp>
      <p:sp>
        <p:nvSpPr>
          <p:cNvPr id="37" name="Text 30"/>
          <p:cNvSpPr/>
          <p:nvPr/>
        </p:nvSpPr>
        <p:spPr>
          <a:xfrm>
            <a:off x="649224" y="5166360"/>
            <a:ext cx="24048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Jenkins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649224" y="5696712"/>
            <a:ext cx="2404872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Orchestrate and approve the release pipeline.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3364992" y="4069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0F0EE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529584" y="4233672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2721" y="4366809"/>
            <a:ext cx="245791" cy="245791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3511296" y="4846320"/>
            <a:ext cx="24048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3511296" y="5166360"/>
            <a:ext cx="2404872" cy="411480"/>
          </a:xfrm>
          <a:prstGeom prst="roundRect">
            <a:avLst>
              <a:gd name="adj" fmla="val 13333"/>
            </a:avLst>
          </a:prstGeom>
          <a:solidFill>
            <a:srgbClr val="F05133"/>
          </a:solidFill>
        </p:spPr>
      </p:sp>
      <p:sp>
        <p:nvSpPr>
          <p:cNvPr id="44" name="Text 36"/>
          <p:cNvSpPr/>
          <p:nvPr/>
        </p:nvSpPr>
        <p:spPr>
          <a:xfrm>
            <a:off x="3511296" y="5166360"/>
            <a:ext cx="24048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Kubernetes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3511296" y="5696712"/>
            <a:ext cx="2404872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containers to production environments.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6227064" y="4069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0F0EE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391656" y="4233672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793" y="4366809"/>
            <a:ext cx="245791" cy="245791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6373368" y="4846320"/>
            <a:ext cx="24048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Operate</a:t>
            </a:r>
            <a:endParaRPr lang="en-US" sz="1200" dirty="0"/>
          </a:p>
        </p:txBody>
      </p:sp>
      <p:sp>
        <p:nvSpPr>
          <p:cNvPr id="50" name="Shape 41"/>
          <p:cNvSpPr/>
          <p:nvPr/>
        </p:nvSpPr>
        <p:spPr>
          <a:xfrm>
            <a:off x="6373368" y="5166360"/>
            <a:ext cx="2404872" cy="411480"/>
          </a:xfrm>
          <a:prstGeom prst="roundRect">
            <a:avLst>
              <a:gd name="adj" fmla="val 13333"/>
            </a:avLst>
          </a:prstGeom>
          <a:solidFill>
            <a:srgbClr val="F05133"/>
          </a:solidFill>
        </p:spPr>
      </p:sp>
      <p:sp>
        <p:nvSpPr>
          <p:cNvPr id="51" name="Text 42"/>
          <p:cNvSpPr/>
          <p:nvPr/>
        </p:nvSpPr>
        <p:spPr>
          <a:xfrm>
            <a:off x="6373368" y="5166360"/>
            <a:ext cx="24048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Ansible</a:t>
            </a:r>
            <a:endParaRPr lang="en-US" sz="1400" dirty="0"/>
          </a:p>
        </p:txBody>
      </p:sp>
      <p:sp>
        <p:nvSpPr>
          <p:cNvPr id="52" name="Text 43"/>
          <p:cNvSpPr/>
          <p:nvPr/>
        </p:nvSpPr>
        <p:spPr>
          <a:xfrm>
            <a:off x="6373368" y="5696712"/>
            <a:ext cx="2404872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configuration across servers.</a:t>
            </a:r>
            <a:endParaRPr lang="en-US" sz="950" dirty="0"/>
          </a:p>
        </p:txBody>
      </p:sp>
      <p:sp>
        <p:nvSpPr>
          <p:cNvPr id="53" name="Shape 44"/>
          <p:cNvSpPr/>
          <p:nvPr/>
        </p:nvSpPr>
        <p:spPr>
          <a:xfrm>
            <a:off x="9089136" y="4069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0F0EE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9253728" y="4233672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865" y="4366809"/>
            <a:ext cx="245791" cy="245791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9235440" y="4846320"/>
            <a:ext cx="24048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</a:t>
            </a:r>
            <a:endParaRPr lang="en-US" sz="1200" dirty="0"/>
          </a:p>
        </p:txBody>
      </p:sp>
      <p:sp>
        <p:nvSpPr>
          <p:cNvPr id="57" name="Shape 47"/>
          <p:cNvSpPr/>
          <p:nvPr/>
        </p:nvSpPr>
        <p:spPr>
          <a:xfrm>
            <a:off x="9235440" y="5166360"/>
            <a:ext cx="2404872" cy="411480"/>
          </a:xfrm>
          <a:prstGeom prst="roundRect">
            <a:avLst>
              <a:gd name="adj" fmla="val 13333"/>
            </a:avLst>
          </a:prstGeom>
          <a:solidFill>
            <a:srgbClr val="F05133"/>
          </a:solidFill>
        </p:spPr>
      </p:sp>
      <p:sp>
        <p:nvSpPr>
          <p:cNvPr id="58" name="Text 48"/>
          <p:cNvSpPr/>
          <p:nvPr/>
        </p:nvSpPr>
        <p:spPr>
          <a:xfrm>
            <a:off x="9235440" y="5166360"/>
            <a:ext cx="24048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Nagios</a:t>
            </a:r>
            <a:endParaRPr lang="en-US" sz="1400" dirty="0"/>
          </a:p>
        </p:txBody>
      </p:sp>
      <p:sp>
        <p:nvSpPr>
          <p:cNvPr id="59" name="Text 49"/>
          <p:cNvSpPr/>
          <p:nvPr/>
        </p:nvSpPr>
        <p:spPr>
          <a:xfrm>
            <a:off x="9235440" y="5696712"/>
            <a:ext cx="2404872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 system health and alert on issues.</a:t>
            </a:r>
            <a:endParaRPr lang="en-US" sz="950" dirty="0"/>
          </a:p>
        </p:txBody>
      </p:sp>
      <p:sp>
        <p:nvSpPr>
          <p:cNvPr id="60" name="Text 5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DevOps Lifecycle</a:t>
            </a:r>
            <a:endParaRPr lang="en-US" sz="1000" dirty="0"/>
          </a:p>
        </p:txBody>
      </p:sp>
      <p:sp>
        <p:nvSpPr>
          <p:cNvPr id="61" name="Text 51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DevOps Principles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51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cultural and technical practices that make fast, reliable delivery possible.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657" y="1870497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377440"/>
            <a:ext cx="3191256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Collaboration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3232" y="2788920"/>
            <a:ext cx="319125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 and Ops share ownership of the whole delivery pipeline, not just their own piece.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51960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737360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977" y="1870497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16552" y="2377440"/>
            <a:ext cx="3191256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16552" y="2788920"/>
            <a:ext cx="319125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Builds, tests, and deployments run automatically — removing manual, error-prone steps.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38160" y="1737360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1297" y="187049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19872" y="2377440"/>
            <a:ext cx="3191256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Integration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19872" y="2788920"/>
            <a:ext cx="319125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 code into a shared branch frequently, and verify it with automated builds/tests.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4069080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657" y="4202217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" y="4709160"/>
            <a:ext cx="3191256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Delivery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3232" y="5120640"/>
            <a:ext cx="319125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validated change is always in a deployable state, ready to release on demand.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51960" y="3886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34840" y="4069080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977" y="4202217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16552" y="4709160"/>
            <a:ext cx="3191256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Monitoring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16552" y="5120640"/>
            <a:ext cx="319125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systems in production so issues are caught and fixed fast, not discovered late.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55280" y="3886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0E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38160" y="4069080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1297" y="4202217"/>
            <a:ext cx="245791" cy="24579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19872" y="4709160"/>
            <a:ext cx="3191256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Feedback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19872" y="5120640"/>
            <a:ext cx="319125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Insights from monitoring and users flow straight back into planning the next iteration.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DevOps Principles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4F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F05133">
              <a:alpha val="1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Git &amp; DevOps Best Practices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9516" y="20116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26262B"/>
          </a:solidFill>
        </p:spPr>
      </p:sp>
      <p:sp>
        <p:nvSpPr>
          <p:cNvPr id="5" name="Shape 3"/>
          <p:cNvSpPr/>
          <p:nvPr/>
        </p:nvSpPr>
        <p:spPr>
          <a:xfrm>
            <a:off x="2025396" y="2331720"/>
            <a:ext cx="731520" cy="731520"/>
          </a:xfrm>
          <a:prstGeom prst="ellipse">
            <a:avLst/>
          </a:prstGeom>
          <a:solidFill>
            <a:srgbClr val="2B2B3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5591" y="25219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2396" y="3337560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Commit Often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8116" y="3840480"/>
            <a:ext cx="292608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Small, focused commits with clear messages are easy to review and revert.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2836" y="20116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26262B"/>
          </a:solidFill>
        </p:spPr>
      </p:sp>
      <p:sp>
        <p:nvSpPr>
          <p:cNvPr id="10" name="Shape 7"/>
          <p:cNvSpPr/>
          <p:nvPr/>
        </p:nvSpPr>
        <p:spPr>
          <a:xfrm>
            <a:off x="5728716" y="2331720"/>
            <a:ext cx="731520" cy="731520"/>
          </a:xfrm>
          <a:prstGeom prst="ellipse">
            <a:avLst/>
          </a:prstGeom>
          <a:solidFill>
            <a:srgbClr val="2B2B3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911" y="25219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5716" y="3337560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Branch for Features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31436" y="3840480"/>
            <a:ext cx="292608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main stable and always deployable; build new work on its own branch.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6156" y="20116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26262B"/>
          </a:solidFill>
        </p:spPr>
      </p:sp>
      <p:sp>
        <p:nvSpPr>
          <p:cNvPr id="15" name="Shape 11"/>
          <p:cNvSpPr/>
          <p:nvPr/>
        </p:nvSpPr>
        <p:spPr>
          <a:xfrm>
            <a:off x="9432036" y="2331720"/>
            <a:ext cx="731520" cy="731520"/>
          </a:xfrm>
          <a:prstGeom prst="ellipse">
            <a:avLst/>
          </a:prstGeom>
          <a:solidFill>
            <a:srgbClr val="2B2B30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2231" y="252191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9036" y="3337560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Automate the Pipeline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34756" y="3840480"/>
            <a:ext cx="292608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 CI/CD build, test, and deploy every change automatically and consistently.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6035</Words>
  <Application>WPS Presentation</Application>
  <PresentationFormat>On-screen Show (16:9)</PresentationFormat>
  <Paragraphs>448</Paragraphs>
  <Slides>16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 Control with Git</dc:title>
  <dc:creator>Claude</dc:creator>
  <dc:subject>PptxGenJS Presentation</dc:subject>
  <cp:lastModifiedBy>WPS_1781587323</cp:lastModifiedBy>
  <cp:revision>3</cp:revision>
  <dcterms:created xsi:type="dcterms:W3CDTF">2026-07-07T06:42:00Z</dcterms:created>
  <dcterms:modified xsi:type="dcterms:W3CDTF">2026-07-07T22:35:04Z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1013BB22BDA04817893C4EEDB8611D5C_12</vt:lpwstr>
  </property>
</Properties>
</file>