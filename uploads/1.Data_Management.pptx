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26"/>
  </p:notesMasterIdLst>
  <p:sldIdLst>
    <p:sldId id="284" r:id="rId2"/>
    <p:sldId id="258" r:id="rId3"/>
    <p:sldId id="297" r:id="rId4"/>
    <p:sldId id="293" r:id="rId5"/>
    <p:sldId id="294" r:id="rId6"/>
    <p:sldId id="295" r:id="rId7"/>
    <p:sldId id="296" r:id="rId8"/>
    <p:sldId id="298" r:id="rId9"/>
    <p:sldId id="276" r:id="rId10"/>
    <p:sldId id="275" r:id="rId11"/>
    <p:sldId id="274" r:id="rId12"/>
    <p:sldId id="278" r:id="rId13"/>
    <p:sldId id="279" r:id="rId14"/>
    <p:sldId id="281" r:id="rId15"/>
    <p:sldId id="299" r:id="rId16"/>
    <p:sldId id="292" r:id="rId17"/>
    <p:sldId id="289" r:id="rId18"/>
    <p:sldId id="272" r:id="rId19"/>
    <p:sldId id="262" r:id="rId20"/>
    <p:sldId id="263" r:id="rId21"/>
    <p:sldId id="264" r:id="rId22"/>
    <p:sldId id="265" r:id="rId23"/>
    <p:sldId id="266" r:id="rId24"/>
    <p:sldId id="26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88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319D3-BDA3-4D84-A8A9-22C697F8A797}" type="datetimeFigureOut">
              <a:rPr lang="en-US" smtClean="0"/>
              <a:pPr/>
              <a:t>9/15/2021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B07AEF-ED8F-4A82-9DA1-18A5E56DAEC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miter lim="800000"/>
            <a:headEnd/>
            <a:tailEnd/>
          </a:ln>
        </p:spPr>
        <p:txBody>
          <a:bodyPr/>
          <a:lstStyle/>
          <a:p>
            <a:fld id="{FBAD8FDA-2CF7-45C2-B075-F713CB198E55}" type="slidenum">
              <a:rPr lang="en-US" altLang="en-US"/>
              <a:pPr/>
              <a:t>4</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31880"/>
            <a:ext cx="8382000" cy="3970318"/>
          </a:xfrm>
          <a:prstGeom prst="rect">
            <a:avLst/>
          </a:prstGeom>
        </p:spPr>
        <p:txBody>
          <a:bodyPr wrap="square">
            <a:spAutoFit/>
          </a:bodyPr>
          <a:lstStyle/>
          <a:p>
            <a:pPr algn="ctr">
              <a:lnSpc>
                <a:spcPct val="150000"/>
              </a:lnSpc>
            </a:pPr>
            <a:r>
              <a:rPr lang="en-US" sz="2400" b="1" dirty="0" smtClean="0">
                <a:solidFill>
                  <a:srgbClr val="FF0000"/>
                </a:solidFill>
                <a:latin typeface="Bookman Old Style" pitchFamily="18" charset="0"/>
              </a:rPr>
              <a:t>UNIT - I</a:t>
            </a:r>
            <a:r>
              <a:rPr lang="en-US" sz="2400" dirty="0" smtClean="0">
                <a:solidFill>
                  <a:srgbClr val="FF0000"/>
                </a:solidFill>
                <a:latin typeface="Bookman Old Style" pitchFamily="18" charset="0"/>
              </a:rPr>
              <a:t> </a:t>
            </a:r>
          </a:p>
          <a:p>
            <a:pPr algn="just">
              <a:lnSpc>
                <a:spcPct val="150000"/>
              </a:lnSpc>
            </a:pPr>
            <a:r>
              <a:rPr lang="en-US" sz="2400" b="1" dirty="0" smtClean="0">
                <a:latin typeface="Bookman Old Style" pitchFamily="18" charset="0"/>
              </a:rPr>
              <a:t>Data Management: </a:t>
            </a:r>
            <a:r>
              <a:rPr lang="en-US" sz="2400" dirty="0" smtClean="0">
                <a:latin typeface="Bookman Old Style" pitchFamily="18" charset="0"/>
              </a:rPr>
              <a:t>Design Data Architecture and manage the data for analysis, understand various sources of Data like Sensors/Signals/GPS etc. Data Management, Data Quality(noise, outliers, missing values, duplicate data) and Data Processing &amp; Processing</a:t>
            </a:r>
            <a:endParaRPr lang="en-US" sz="2400" dirty="0">
              <a:latin typeface="Bookman Old Style"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228600"/>
            <a:ext cx="7848600" cy="830997"/>
          </a:xfrm>
          <a:prstGeom prst="rect">
            <a:avLst/>
          </a:prstGeom>
        </p:spPr>
        <p:txBody>
          <a:bodyPr wrap="square">
            <a:spAutoFit/>
          </a:bodyPr>
          <a:lstStyle/>
          <a:p>
            <a:pPr algn="just"/>
            <a:r>
              <a:rPr lang="en-US" sz="2400" b="1" dirty="0" smtClean="0">
                <a:solidFill>
                  <a:srgbClr val="002060"/>
                </a:solidFill>
                <a:latin typeface="Bookman Old Style" pitchFamily="18" charset="0"/>
              </a:rPr>
              <a:t>Data</a:t>
            </a:r>
            <a:r>
              <a:rPr lang="en-US" sz="2400" dirty="0" smtClean="0">
                <a:latin typeface="Bookman Old Style" pitchFamily="18" charset="0"/>
              </a:rPr>
              <a:t> Is the Foundation on Which Business Success is built </a:t>
            </a:r>
            <a:endParaRPr lang="en-US" sz="2400" dirty="0">
              <a:latin typeface="Bookman Old Style" pitchFamily="18" charset="0"/>
            </a:endParaRPr>
          </a:p>
        </p:txBody>
      </p:sp>
      <p:sp>
        <p:nvSpPr>
          <p:cNvPr id="3" name="Rectangle 2"/>
          <p:cNvSpPr/>
          <p:nvPr/>
        </p:nvSpPr>
        <p:spPr>
          <a:xfrm>
            <a:off x="609600" y="3276600"/>
            <a:ext cx="8001000" cy="3416320"/>
          </a:xfrm>
          <a:prstGeom prst="rect">
            <a:avLst/>
          </a:prstGeom>
        </p:spPr>
        <p:txBody>
          <a:bodyPr wrap="square">
            <a:spAutoFit/>
          </a:bodyPr>
          <a:lstStyle/>
          <a:p>
            <a:pPr algn="just">
              <a:lnSpc>
                <a:spcPct val="150000"/>
              </a:lnSpc>
            </a:pPr>
            <a:r>
              <a:rPr lang="en-US" sz="2400" b="1" dirty="0" smtClean="0">
                <a:solidFill>
                  <a:srgbClr val="002060"/>
                </a:solidFill>
                <a:latin typeface="Bookman Old Style" pitchFamily="18" charset="0"/>
              </a:rPr>
              <a:t>Data science</a:t>
            </a:r>
            <a:r>
              <a:rPr lang="en-US" sz="2400" dirty="0" smtClean="0">
                <a:solidFill>
                  <a:srgbClr val="002060"/>
                </a:solidFill>
                <a:latin typeface="Bookman Old Style" pitchFamily="18" charset="0"/>
              </a:rPr>
              <a:t> </a:t>
            </a:r>
            <a:r>
              <a:rPr lang="en-US" sz="2400" dirty="0" smtClean="0">
                <a:latin typeface="Bookman Old Style" pitchFamily="18" charset="0"/>
              </a:rPr>
              <a:t>is the study of </a:t>
            </a:r>
            <a:r>
              <a:rPr lang="en-US" sz="2400" b="1" dirty="0" smtClean="0">
                <a:latin typeface="Bookman Old Style" pitchFamily="18" charset="0"/>
              </a:rPr>
              <a:t>data</a:t>
            </a:r>
            <a:r>
              <a:rPr lang="en-US" sz="2400" dirty="0" smtClean="0">
                <a:latin typeface="Bookman Old Style" pitchFamily="18" charset="0"/>
              </a:rPr>
              <a:t>. It involves developing methods of recording, storing, and analyzing </a:t>
            </a:r>
            <a:r>
              <a:rPr lang="en-US" sz="2400" b="1" dirty="0" smtClean="0">
                <a:latin typeface="Bookman Old Style" pitchFamily="18" charset="0"/>
              </a:rPr>
              <a:t>data</a:t>
            </a:r>
            <a:r>
              <a:rPr lang="en-US" sz="2400" dirty="0" smtClean="0">
                <a:latin typeface="Bookman Old Style" pitchFamily="18" charset="0"/>
              </a:rPr>
              <a:t> to effectively extract useful information. The goal of </a:t>
            </a:r>
            <a:r>
              <a:rPr lang="en-US" sz="2400" b="1" dirty="0" smtClean="0">
                <a:latin typeface="Bookman Old Style" pitchFamily="18" charset="0"/>
              </a:rPr>
              <a:t>data science</a:t>
            </a:r>
            <a:r>
              <a:rPr lang="en-US" sz="2400" dirty="0" smtClean="0">
                <a:latin typeface="Bookman Old Style" pitchFamily="18" charset="0"/>
              </a:rPr>
              <a:t> is to gain insights and knowledge from any type of </a:t>
            </a:r>
            <a:r>
              <a:rPr lang="en-US" sz="2400" b="1" dirty="0" smtClean="0">
                <a:latin typeface="Bookman Old Style" pitchFamily="18" charset="0"/>
              </a:rPr>
              <a:t>data</a:t>
            </a:r>
            <a:r>
              <a:rPr lang="en-US" sz="2400" dirty="0" smtClean="0">
                <a:latin typeface="Bookman Old Style" pitchFamily="18" charset="0"/>
              </a:rPr>
              <a:t> — both </a:t>
            </a:r>
            <a:r>
              <a:rPr lang="en-US" sz="2400" b="1" dirty="0" smtClean="0">
                <a:latin typeface="Bookman Old Style" pitchFamily="18" charset="0"/>
              </a:rPr>
              <a:t>structured and unstructured</a:t>
            </a:r>
            <a:endParaRPr lang="en-US" sz="2400" b="1" dirty="0">
              <a:latin typeface="Bookman Old Style" pitchFamily="18" charset="0"/>
            </a:endParaRPr>
          </a:p>
        </p:txBody>
      </p:sp>
      <p:sp>
        <p:nvSpPr>
          <p:cNvPr id="4" name="Rectangle 3"/>
          <p:cNvSpPr/>
          <p:nvPr/>
        </p:nvSpPr>
        <p:spPr>
          <a:xfrm>
            <a:off x="685800" y="1402140"/>
            <a:ext cx="7924800" cy="1569660"/>
          </a:xfrm>
          <a:prstGeom prst="rect">
            <a:avLst/>
          </a:prstGeom>
        </p:spPr>
        <p:txBody>
          <a:bodyPr wrap="square">
            <a:spAutoFit/>
          </a:bodyPr>
          <a:lstStyle/>
          <a:p>
            <a:r>
              <a:rPr lang="en-US" sz="2400" b="1" dirty="0" smtClean="0">
                <a:solidFill>
                  <a:srgbClr val="002060"/>
                </a:solidFill>
                <a:latin typeface="Bookman Old Style" pitchFamily="18" charset="0"/>
              </a:rPr>
              <a:t>Data</a:t>
            </a:r>
            <a:r>
              <a:rPr lang="en-US" sz="2400" dirty="0" smtClean="0">
                <a:solidFill>
                  <a:srgbClr val="002060"/>
                </a:solidFill>
                <a:latin typeface="Bookman Old Style" pitchFamily="18" charset="0"/>
              </a:rPr>
              <a:t> </a:t>
            </a:r>
            <a:r>
              <a:rPr lang="en-US" sz="2400" dirty="0" smtClean="0">
                <a:latin typeface="Bookman Old Style" pitchFamily="18" charset="0"/>
              </a:rPr>
              <a:t>can be defined as a representation of facts.</a:t>
            </a:r>
          </a:p>
          <a:p>
            <a:endParaRPr lang="en-US" sz="2400" dirty="0" smtClean="0">
              <a:latin typeface="Bookman Old Style" pitchFamily="18" charset="0"/>
            </a:endParaRPr>
          </a:p>
          <a:p>
            <a:r>
              <a:rPr lang="en-US" sz="2400" b="1" dirty="0" smtClean="0">
                <a:solidFill>
                  <a:srgbClr val="002060"/>
                </a:solidFill>
                <a:latin typeface="Bookman Old Style" pitchFamily="18" charset="0"/>
              </a:rPr>
              <a:t>Information</a:t>
            </a:r>
            <a:r>
              <a:rPr lang="en-US" sz="2400" dirty="0" smtClean="0">
                <a:solidFill>
                  <a:srgbClr val="002060"/>
                </a:solidFill>
                <a:latin typeface="Bookman Old Style" pitchFamily="18" charset="0"/>
              </a:rPr>
              <a:t> </a:t>
            </a:r>
            <a:r>
              <a:rPr lang="en-US" sz="2400" dirty="0" smtClean="0">
                <a:latin typeface="Bookman Old Style" pitchFamily="18" charset="0"/>
              </a:rPr>
              <a:t>is organized or classified data, which has some meaningful values for the receiver</a:t>
            </a:r>
            <a:endParaRPr lang="en-US" sz="2400" dirty="0">
              <a:latin typeface="Bookman Old Style"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20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3" grpId="0" build="allAtOnce"/>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28600"/>
            <a:ext cx="8229600" cy="6370975"/>
          </a:xfrm>
          <a:prstGeom prst="rect">
            <a:avLst/>
          </a:prstGeom>
        </p:spPr>
        <p:txBody>
          <a:bodyPr wrap="square">
            <a:spAutoFit/>
          </a:bodyPr>
          <a:lstStyle/>
          <a:p>
            <a:pPr algn="just">
              <a:lnSpc>
                <a:spcPct val="200000"/>
              </a:lnSpc>
            </a:pPr>
            <a:r>
              <a:rPr lang="en-US" sz="2400" b="1" dirty="0" smtClean="0">
                <a:solidFill>
                  <a:srgbClr val="002060"/>
                </a:solidFill>
                <a:latin typeface="Bookman Old Style" pitchFamily="18" charset="0"/>
              </a:rPr>
              <a:t>Data analytics: </a:t>
            </a:r>
          </a:p>
          <a:p>
            <a:pPr algn="just">
              <a:lnSpc>
                <a:spcPct val="200000"/>
              </a:lnSpc>
            </a:pPr>
            <a:r>
              <a:rPr lang="en-US" sz="2400" dirty="0" smtClean="0">
                <a:latin typeface="Bookman Old Style" pitchFamily="18" charset="0"/>
              </a:rPr>
              <a:t>Data analytics refers to qualitative and quantitative techniques and processes used to enhance productivity and business gain. </a:t>
            </a:r>
            <a:r>
              <a:rPr lang="en-US" sz="2400" b="1" dirty="0" smtClean="0">
                <a:latin typeface="Bookman Old Style" pitchFamily="18" charset="0"/>
              </a:rPr>
              <a:t>Data analytics</a:t>
            </a:r>
            <a:r>
              <a:rPr lang="en-US" sz="2400" dirty="0" smtClean="0">
                <a:latin typeface="Bookman Old Style" pitchFamily="18" charset="0"/>
              </a:rPr>
              <a:t> is the science of analyzing raw </a:t>
            </a:r>
            <a:r>
              <a:rPr lang="en-US" sz="2400" b="1" dirty="0" smtClean="0">
                <a:latin typeface="Bookman Old Style" pitchFamily="18" charset="0"/>
              </a:rPr>
              <a:t>data</a:t>
            </a:r>
            <a:r>
              <a:rPr lang="en-US" sz="2400" dirty="0" smtClean="0">
                <a:latin typeface="Bookman Old Style" pitchFamily="18" charset="0"/>
              </a:rPr>
              <a:t> in order to make conclusions about that information. Data analytics is also known as data analysis. </a:t>
            </a:r>
          </a:p>
          <a:p>
            <a:pPr algn="just">
              <a:lnSpc>
                <a:spcPct val="150000"/>
              </a:lnSpc>
            </a:pPr>
            <a:r>
              <a:rPr lang="en-US" sz="2400" dirty="0" smtClean="0">
                <a:latin typeface="Bookman Old Style" pitchFamily="18" charset="0"/>
              </a:rPr>
              <a:t>As the process of analyzing raw data to find trends and answer questions.</a:t>
            </a:r>
            <a:endParaRPr lang="en-US" sz="2400" dirty="0">
              <a:latin typeface="Bookman Old Style"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2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2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1026"/>
          <p:cNvSpPr>
            <a:spLocks noGrp="1" noChangeArrowheads="1"/>
          </p:cNvSpPr>
          <p:nvPr>
            <p:ph type="title"/>
          </p:nvPr>
        </p:nvSpPr>
        <p:spPr>
          <a:xfrm>
            <a:off x="990600" y="195263"/>
            <a:ext cx="7239000" cy="566737"/>
          </a:xfrm>
          <a:noFill/>
        </p:spPr>
        <p:txBody>
          <a:bodyPr lIns="92075" tIns="46038" rIns="92075" bIns="46038" anchor="ctr">
            <a:normAutofit fontScale="90000"/>
          </a:bodyPr>
          <a:lstStyle/>
          <a:p>
            <a:pPr eaLnBrk="1" hangingPunct="1"/>
            <a:r>
              <a:rPr lang="en-US" altLang="en-US" sz="3200" b="1" dirty="0" smtClean="0">
                <a:solidFill>
                  <a:srgbClr val="002060"/>
                </a:solidFill>
                <a:latin typeface="Bookman Old Style" pitchFamily="18" charset="0"/>
              </a:rPr>
              <a:t>Evolution of Database Technology</a:t>
            </a:r>
            <a:endParaRPr lang="en-US" altLang="en-US" sz="1800" b="1" dirty="0" smtClean="0">
              <a:solidFill>
                <a:srgbClr val="002060"/>
              </a:solidFill>
              <a:latin typeface="Bookman Old Style" pitchFamily="18" charset="0"/>
            </a:endParaRPr>
          </a:p>
        </p:txBody>
      </p:sp>
      <p:sp>
        <p:nvSpPr>
          <p:cNvPr id="8" name="Rectangle 7"/>
          <p:cNvSpPr/>
          <p:nvPr/>
        </p:nvSpPr>
        <p:spPr>
          <a:xfrm>
            <a:off x="457200" y="844689"/>
            <a:ext cx="8534400" cy="5632311"/>
          </a:xfrm>
          <a:prstGeom prst="rect">
            <a:avLst/>
          </a:prstGeom>
        </p:spPr>
        <p:txBody>
          <a:bodyPr wrap="square">
            <a:spAutoFit/>
          </a:bodyPr>
          <a:lstStyle/>
          <a:p>
            <a:pPr>
              <a:lnSpc>
                <a:spcPct val="150000"/>
              </a:lnSpc>
            </a:pPr>
            <a:r>
              <a:rPr lang="en-US" altLang="en-US" sz="2000" b="1" dirty="0" smtClean="0">
                <a:solidFill>
                  <a:srgbClr val="FF0000"/>
                </a:solidFill>
                <a:latin typeface="Bookman Old Style" pitchFamily="18" charset="0"/>
              </a:rPr>
              <a:t>1960s:</a:t>
            </a:r>
            <a:r>
              <a:rPr lang="en-US" altLang="en-US" sz="2000" dirty="0" smtClean="0">
                <a:latin typeface="Bookman Old Style" pitchFamily="18" charset="0"/>
              </a:rPr>
              <a:t> Data collection, database creation.</a:t>
            </a:r>
          </a:p>
          <a:p>
            <a:pPr>
              <a:lnSpc>
                <a:spcPct val="150000"/>
              </a:lnSpc>
            </a:pPr>
            <a:endParaRPr lang="en-US" altLang="en-US" sz="1000" dirty="0" smtClean="0">
              <a:latin typeface="Bookman Old Style" pitchFamily="18" charset="0"/>
            </a:endParaRPr>
          </a:p>
          <a:p>
            <a:pPr>
              <a:lnSpc>
                <a:spcPct val="150000"/>
              </a:lnSpc>
            </a:pPr>
            <a:r>
              <a:rPr lang="en-US" altLang="en-US" sz="2000" b="1" dirty="0" smtClean="0">
                <a:solidFill>
                  <a:srgbClr val="FF0000"/>
                </a:solidFill>
                <a:latin typeface="Bookman Old Style" pitchFamily="18" charset="0"/>
              </a:rPr>
              <a:t>1970s:</a:t>
            </a:r>
            <a:r>
              <a:rPr lang="en-US" altLang="en-US" sz="2000" dirty="0" smtClean="0">
                <a:latin typeface="Bookman Old Style" pitchFamily="18" charset="0"/>
              </a:rPr>
              <a:t> Relational data model, relational DBMS implementation.</a:t>
            </a:r>
          </a:p>
          <a:p>
            <a:pPr>
              <a:lnSpc>
                <a:spcPct val="150000"/>
              </a:lnSpc>
            </a:pPr>
            <a:endParaRPr lang="en-US" altLang="en-US" sz="1000" dirty="0" smtClean="0">
              <a:latin typeface="Bookman Old Style" pitchFamily="18" charset="0"/>
            </a:endParaRPr>
          </a:p>
          <a:p>
            <a:pPr>
              <a:lnSpc>
                <a:spcPct val="150000"/>
              </a:lnSpc>
            </a:pPr>
            <a:r>
              <a:rPr lang="en-US" altLang="en-US" sz="2000" b="1" dirty="0" smtClean="0">
                <a:solidFill>
                  <a:srgbClr val="FF0000"/>
                </a:solidFill>
                <a:latin typeface="Bookman Old Style" pitchFamily="18" charset="0"/>
              </a:rPr>
              <a:t>1980s:</a:t>
            </a:r>
            <a:r>
              <a:rPr lang="en-US" altLang="en-US" sz="2000" dirty="0" smtClean="0">
                <a:latin typeface="Bookman Old Style" pitchFamily="18" charset="0"/>
              </a:rPr>
              <a:t> RDBMS, advanced data models (extended-relational, OO, deductive, etc.) Application-oriented DBMS (spatial, scientific, engineering, etc.)</a:t>
            </a:r>
          </a:p>
          <a:p>
            <a:pPr>
              <a:lnSpc>
                <a:spcPct val="150000"/>
              </a:lnSpc>
            </a:pPr>
            <a:endParaRPr lang="en-US" altLang="en-US" sz="1000" dirty="0" smtClean="0">
              <a:latin typeface="Bookman Old Style" pitchFamily="18" charset="0"/>
            </a:endParaRPr>
          </a:p>
          <a:p>
            <a:pPr>
              <a:lnSpc>
                <a:spcPct val="150000"/>
              </a:lnSpc>
            </a:pPr>
            <a:r>
              <a:rPr lang="en-US" altLang="en-US" sz="2000" b="1" dirty="0" smtClean="0">
                <a:solidFill>
                  <a:srgbClr val="FF0000"/>
                </a:solidFill>
                <a:latin typeface="Bookman Old Style" pitchFamily="18" charset="0"/>
              </a:rPr>
              <a:t>1990s: </a:t>
            </a:r>
            <a:r>
              <a:rPr lang="en-US" altLang="en-US" sz="2000" dirty="0" smtClean="0">
                <a:latin typeface="Bookman Old Style" pitchFamily="18" charset="0"/>
              </a:rPr>
              <a:t>Data mining, data warehousing, multimedia databases, and Web databases.</a:t>
            </a:r>
          </a:p>
          <a:p>
            <a:pPr>
              <a:lnSpc>
                <a:spcPct val="150000"/>
              </a:lnSpc>
            </a:pPr>
            <a:endParaRPr lang="en-US" altLang="en-US" sz="1000" dirty="0" smtClean="0">
              <a:latin typeface="Bookman Old Style" pitchFamily="18" charset="0"/>
            </a:endParaRPr>
          </a:p>
          <a:p>
            <a:pPr>
              <a:lnSpc>
                <a:spcPct val="150000"/>
              </a:lnSpc>
            </a:pPr>
            <a:r>
              <a:rPr lang="en-US" altLang="en-US" sz="2000" b="1" dirty="0" smtClean="0">
                <a:solidFill>
                  <a:srgbClr val="FF0000"/>
                </a:solidFill>
                <a:latin typeface="Bookman Old Style" pitchFamily="18" charset="0"/>
              </a:rPr>
              <a:t>2000s: </a:t>
            </a:r>
            <a:r>
              <a:rPr lang="en-US" altLang="en-US" sz="2000" dirty="0" smtClean="0">
                <a:latin typeface="Bookman Old Style" pitchFamily="18" charset="0"/>
              </a:rPr>
              <a:t>Stream data management and mining, Data mining and its applications.</a:t>
            </a:r>
          </a:p>
          <a:p>
            <a:pPr>
              <a:lnSpc>
                <a:spcPct val="150000"/>
              </a:lnSpc>
            </a:pPr>
            <a:r>
              <a:rPr lang="en-US" altLang="en-US" sz="2000" b="1" dirty="0" smtClean="0">
                <a:solidFill>
                  <a:srgbClr val="FF0000"/>
                </a:solidFill>
                <a:latin typeface="Bookman Old Style" pitchFamily="18" charset="0"/>
              </a:rPr>
              <a:t>2007s:</a:t>
            </a:r>
            <a:r>
              <a:rPr lang="en-US" altLang="en-US" sz="2000" dirty="0" smtClean="0">
                <a:latin typeface="Bookman Old Style" pitchFamily="18" charset="0"/>
              </a:rPr>
              <a:t> </a:t>
            </a:r>
            <a:r>
              <a:rPr lang="en-US" altLang="en-US" sz="2000" dirty="0" err="1" smtClean="0">
                <a:latin typeface="Bookman Old Style" pitchFamily="18" charset="0"/>
              </a:rPr>
              <a:t>Bigdata</a:t>
            </a:r>
            <a:r>
              <a:rPr lang="en-US" altLang="en-US" sz="2000" dirty="0" smtClean="0">
                <a:latin typeface="Bookman Old Style" pitchFamily="18" charset="0"/>
              </a:rPr>
              <a:t>, </a:t>
            </a:r>
            <a:r>
              <a:rPr lang="en-US" altLang="en-US" sz="2000" dirty="0" err="1" smtClean="0">
                <a:latin typeface="Bookman Old Style" pitchFamily="18" charset="0"/>
              </a:rPr>
              <a:t>Hadoop</a:t>
            </a:r>
            <a:r>
              <a:rPr lang="en-US" altLang="en-US" sz="2000" dirty="0" smtClean="0">
                <a:latin typeface="Bookman Old Style" pitchFamily="18" charset="0"/>
              </a:rPr>
              <a:t> Framework</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left)">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wipe(left)">
                                      <p:cBhvr>
                                        <p:cTn id="17" dur="10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wipe(left)">
                                      <p:cBhvr>
                                        <p:cTn id="22" dur="10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animEffect transition="in" filter="wipe(left)">
                                      <p:cBhvr>
                                        <p:cTn id="27" dur="1000"/>
                                        <p:tgtEl>
                                          <p:spTgt spid="8">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xEl>
                                              <p:pRg st="9" end="9"/>
                                            </p:txEl>
                                          </p:spTgt>
                                        </p:tgtEl>
                                        <p:attrNameLst>
                                          <p:attrName>style.visibility</p:attrName>
                                        </p:attrNameLst>
                                      </p:cBhvr>
                                      <p:to>
                                        <p:strVal val="visible"/>
                                      </p:to>
                                    </p:set>
                                    <p:animEffect transition="in" filter="wipe(left)">
                                      <p:cBhvr>
                                        <p:cTn id="32" dur="10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srcRect/>
          <a:stretch>
            <a:fillRect/>
          </a:stretch>
        </p:blipFill>
        <p:spPr bwMode="auto">
          <a:xfrm>
            <a:off x="533400" y="304800"/>
            <a:ext cx="8153400" cy="6190356"/>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a:srcRect/>
          <a:stretch>
            <a:fillRect/>
          </a:stretch>
        </p:blipFill>
        <p:spPr bwMode="auto">
          <a:xfrm>
            <a:off x="6324600" y="914400"/>
            <a:ext cx="2590800" cy="135512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9"/>
                                        </p:tgtEl>
                                        <p:attrNameLst>
                                          <p:attrName>style.visibility</p:attrName>
                                        </p:attrNameLst>
                                      </p:cBhvr>
                                      <p:to>
                                        <p:strVal val="visible"/>
                                      </p:to>
                                    </p:set>
                                    <p:animEffect transition="in" filter="fade">
                                      <p:cBhvr>
                                        <p:cTn id="7" dur="20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52400" y="152400"/>
            <a:ext cx="8915400" cy="662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52400" y="76200"/>
            <a:ext cx="8915400" cy="678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533400" y="533400"/>
            <a:ext cx="7897769" cy="563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76200"/>
            <a:ext cx="8915400" cy="3647152"/>
          </a:xfrm>
          <a:prstGeom prst="rect">
            <a:avLst/>
          </a:prstGeom>
        </p:spPr>
        <p:txBody>
          <a:bodyPr wrap="square">
            <a:spAutoFit/>
          </a:bodyPr>
          <a:lstStyle/>
          <a:p>
            <a:pPr algn="just">
              <a:lnSpc>
                <a:spcPct val="150000"/>
              </a:lnSpc>
            </a:pPr>
            <a:r>
              <a:rPr lang="en-US" sz="2400" b="1" dirty="0" smtClean="0">
                <a:solidFill>
                  <a:srgbClr val="FF0000"/>
                </a:solidFill>
                <a:latin typeface="Bookman Old Style" pitchFamily="18" charset="0"/>
              </a:rPr>
              <a:t>Big data:</a:t>
            </a:r>
            <a:endParaRPr lang="en-US" sz="2400" dirty="0" smtClean="0">
              <a:latin typeface="Bookman Old Style" pitchFamily="18" charset="0"/>
            </a:endParaRPr>
          </a:p>
          <a:p>
            <a:pPr algn="just">
              <a:lnSpc>
                <a:spcPct val="150000"/>
              </a:lnSpc>
            </a:pPr>
            <a:r>
              <a:rPr lang="en-US" sz="2400" dirty="0" smtClean="0">
                <a:latin typeface="Bookman Old Style" pitchFamily="18" charset="0"/>
              </a:rPr>
              <a:t>The data which is beyond to the storage capacity and which is beyond to the processing power is considered as big data. </a:t>
            </a:r>
          </a:p>
          <a:p>
            <a:pPr algn="just">
              <a:lnSpc>
                <a:spcPct val="150000"/>
              </a:lnSpc>
            </a:pPr>
            <a:endParaRPr lang="en-US" sz="1000" dirty="0" smtClean="0">
              <a:latin typeface="Bookman Old Style" pitchFamily="18" charset="0"/>
            </a:endParaRPr>
          </a:p>
          <a:p>
            <a:pPr algn="just">
              <a:lnSpc>
                <a:spcPct val="150000"/>
              </a:lnSpc>
            </a:pPr>
            <a:r>
              <a:rPr lang="en-US" sz="2400" dirty="0" smtClean="0">
                <a:latin typeface="Bookman Old Style" pitchFamily="18" charset="0"/>
              </a:rPr>
              <a:t>Data that is unstructured or time sensitive or simply very large cannot be processed by relational database engines.</a:t>
            </a:r>
            <a:endParaRPr lang="en-IN" sz="2400" dirty="0">
              <a:latin typeface="Bookman Old Style" pitchFamily="18" charset="0"/>
            </a:endParaRPr>
          </a:p>
        </p:txBody>
      </p:sp>
      <p:sp>
        <p:nvSpPr>
          <p:cNvPr id="5" name="Rectangle 4"/>
          <p:cNvSpPr/>
          <p:nvPr/>
        </p:nvSpPr>
        <p:spPr>
          <a:xfrm>
            <a:off x="228600" y="4002721"/>
            <a:ext cx="8686800" cy="2245679"/>
          </a:xfrm>
          <a:prstGeom prst="rect">
            <a:avLst/>
          </a:prstGeom>
        </p:spPr>
        <p:txBody>
          <a:bodyPr wrap="square">
            <a:spAutoFit/>
          </a:bodyPr>
          <a:lstStyle/>
          <a:p>
            <a:pPr algn="just">
              <a:lnSpc>
                <a:spcPct val="150000"/>
              </a:lnSpc>
              <a:buFont typeface="Wingdings" pitchFamily="2" charset="2"/>
              <a:buChar char="Ø"/>
            </a:pPr>
            <a:r>
              <a:rPr lang="en-US" sz="2400" dirty="0" smtClean="0">
                <a:latin typeface="Bookman Old Style" pitchFamily="18" charset="0"/>
              </a:rPr>
              <a:t>It refers to a massive amount of data that keeps on growing exponentially with time.</a:t>
            </a:r>
          </a:p>
          <a:p>
            <a:pPr algn="just">
              <a:lnSpc>
                <a:spcPct val="150000"/>
              </a:lnSpc>
              <a:buFont typeface="Wingdings" pitchFamily="2" charset="2"/>
              <a:buChar char="Ø"/>
            </a:pPr>
            <a:r>
              <a:rPr lang="en-US" sz="2400" dirty="0" smtClean="0">
                <a:latin typeface="Bookman Old Style" pitchFamily="18" charset="0"/>
              </a:rPr>
              <a:t>It is high </a:t>
            </a:r>
            <a:r>
              <a:rPr lang="en-US" sz="2400" dirty="0" err="1" smtClean="0">
                <a:latin typeface="Bookman Old Style" pitchFamily="18" charset="0"/>
              </a:rPr>
              <a:t>valume</a:t>
            </a:r>
            <a:r>
              <a:rPr lang="en-US" sz="2400" dirty="0" smtClean="0">
                <a:latin typeface="Bookman Old Style" pitchFamily="18" charset="0"/>
              </a:rPr>
              <a:t> that it cannot be processed or analyzed using conventional data processing techniques.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304800"/>
            <a:ext cx="4572000" cy="2245679"/>
          </a:xfrm>
          <a:prstGeom prst="rect">
            <a:avLst/>
          </a:prstGeom>
        </p:spPr>
        <p:txBody>
          <a:bodyPr>
            <a:spAutoFit/>
          </a:bodyPr>
          <a:lstStyle/>
          <a:p>
            <a:pPr>
              <a:lnSpc>
                <a:spcPct val="150000"/>
              </a:lnSpc>
            </a:pPr>
            <a:r>
              <a:rPr lang="en-US" sz="2400" b="1" dirty="0" smtClean="0">
                <a:solidFill>
                  <a:srgbClr val="FF0000"/>
                </a:solidFill>
                <a:latin typeface="Bookman Old Style" pitchFamily="18" charset="0"/>
              </a:rPr>
              <a:t>The V’s of Big Data:</a:t>
            </a:r>
            <a:endParaRPr lang="en-IN" sz="2400" b="1" dirty="0" smtClean="0">
              <a:solidFill>
                <a:srgbClr val="FF0000"/>
              </a:solidFill>
              <a:latin typeface="Bookman Old Style" pitchFamily="18" charset="0"/>
            </a:endParaRPr>
          </a:p>
          <a:p>
            <a:pPr lvl="0">
              <a:lnSpc>
                <a:spcPct val="150000"/>
              </a:lnSpc>
            </a:pPr>
            <a:r>
              <a:rPr lang="en-US" sz="2400" dirty="0" smtClean="0">
                <a:latin typeface="Bookman Old Style" pitchFamily="18" charset="0"/>
              </a:rPr>
              <a:t>Volume</a:t>
            </a:r>
            <a:endParaRPr lang="en-IN" sz="2400" dirty="0" smtClean="0">
              <a:latin typeface="Bookman Old Style" pitchFamily="18" charset="0"/>
            </a:endParaRPr>
          </a:p>
          <a:p>
            <a:pPr lvl="0">
              <a:lnSpc>
                <a:spcPct val="150000"/>
              </a:lnSpc>
            </a:pPr>
            <a:r>
              <a:rPr lang="en-US" sz="2400" dirty="0" smtClean="0">
                <a:latin typeface="Bookman Old Style" pitchFamily="18" charset="0"/>
              </a:rPr>
              <a:t>Velocity</a:t>
            </a:r>
            <a:endParaRPr lang="en-IN" sz="2400" dirty="0" smtClean="0">
              <a:latin typeface="Bookman Old Style" pitchFamily="18" charset="0"/>
            </a:endParaRPr>
          </a:p>
          <a:p>
            <a:pPr lvl="0">
              <a:lnSpc>
                <a:spcPct val="150000"/>
              </a:lnSpc>
            </a:pPr>
            <a:r>
              <a:rPr lang="en-US" sz="2400" dirty="0" smtClean="0">
                <a:latin typeface="Bookman Old Style" pitchFamily="18" charset="0"/>
              </a:rPr>
              <a:t>Variety</a:t>
            </a:r>
            <a:endParaRPr lang="en-US" sz="2400" dirty="0">
              <a:latin typeface="Bookman Old Style" pitchFamily="18" charset="0"/>
            </a:endParaRPr>
          </a:p>
        </p:txBody>
      </p:sp>
      <p:pic>
        <p:nvPicPr>
          <p:cNvPr id="6" name="image2.jpeg" descr="BigData.001.jpg"/>
          <p:cNvPicPr/>
          <p:nvPr/>
        </p:nvPicPr>
        <p:blipFill>
          <a:blip r:embed="rId2" cstate="print"/>
          <a:stretch>
            <a:fillRect/>
          </a:stretch>
        </p:blipFill>
        <p:spPr>
          <a:xfrm>
            <a:off x="2057400" y="1219200"/>
            <a:ext cx="693420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81000" y="1076325"/>
            <a:ext cx="8434387" cy="4486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533400" y="228600"/>
            <a:ext cx="8153400" cy="64153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33425" y="981075"/>
            <a:ext cx="7496175" cy="4581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914400" y="228600"/>
            <a:ext cx="7240003" cy="6324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304800" y="914400"/>
            <a:ext cx="8401257" cy="5105400"/>
          </a:xfrm>
          <a:prstGeom prst="rect">
            <a:avLst/>
          </a:prstGeom>
          <a:noFill/>
          <a:ln w="9525">
            <a:noFill/>
            <a:miter lim="800000"/>
            <a:headEnd/>
            <a:tailEnd/>
          </a:ln>
          <a:effectLst/>
        </p:spPr>
      </p:pic>
      <p:sp>
        <p:nvSpPr>
          <p:cNvPr id="3" name="TextBox 2"/>
          <p:cNvSpPr txBox="1"/>
          <p:nvPr/>
        </p:nvSpPr>
        <p:spPr>
          <a:xfrm>
            <a:off x="228600" y="152400"/>
            <a:ext cx="5189241" cy="461665"/>
          </a:xfrm>
          <a:prstGeom prst="rect">
            <a:avLst/>
          </a:prstGeom>
          <a:noFill/>
        </p:spPr>
        <p:txBody>
          <a:bodyPr wrap="none" rtlCol="0">
            <a:spAutoFit/>
          </a:bodyPr>
          <a:lstStyle/>
          <a:p>
            <a:r>
              <a:rPr lang="en-US" sz="2400" b="1" dirty="0" smtClean="0">
                <a:solidFill>
                  <a:srgbClr val="FF0000"/>
                </a:solidFill>
                <a:latin typeface="Bookman Old Style" pitchFamily="18" charset="0"/>
              </a:rPr>
              <a:t>Solution for </a:t>
            </a:r>
            <a:r>
              <a:rPr lang="en-US" sz="2400" b="1" dirty="0" err="1" smtClean="0">
                <a:solidFill>
                  <a:srgbClr val="FF0000"/>
                </a:solidFill>
                <a:latin typeface="Bookman Old Style" pitchFamily="18" charset="0"/>
              </a:rPr>
              <a:t>Bigdata</a:t>
            </a:r>
            <a:r>
              <a:rPr lang="en-US" sz="2400" b="1" dirty="0" smtClean="0">
                <a:solidFill>
                  <a:srgbClr val="FF0000"/>
                </a:solidFill>
                <a:latin typeface="Bookman Old Style" pitchFamily="18" charset="0"/>
              </a:rPr>
              <a:t> is </a:t>
            </a:r>
            <a:r>
              <a:rPr lang="en-US" sz="2400" b="1" dirty="0" err="1" smtClean="0">
                <a:solidFill>
                  <a:srgbClr val="FF0000"/>
                </a:solidFill>
                <a:latin typeface="Bookman Old Style" pitchFamily="18" charset="0"/>
              </a:rPr>
              <a:t>Hadoop</a:t>
            </a:r>
            <a:r>
              <a:rPr lang="en-US" sz="2400" b="1" dirty="0" smtClean="0">
                <a:solidFill>
                  <a:srgbClr val="FF0000"/>
                </a:solidFill>
                <a:latin typeface="Bookman Old Style" pitchFamily="18" charset="0"/>
              </a:rPr>
              <a:t>:</a:t>
            </a:r>
            <a:endParaRPr lang="en-US" sz="2400" b="1" dirty="0">
              <a:solidFill>
                <a:srgbClr val="FF0000"/>
              </a:solidFill>
              <a:latin typeface="Bookman Old Style"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a:blip r:embed="rId2"/>
          <a:srcRect/>
          <a:stretch>
            <a:fillRect/>
          </a:stretch>
        </p:blipFill>
        <p:spPr bwMode="auto">
          <a:xfrm>
            <a:off x="152400" y="447675"/>
            <a:ext cx="8763000" cy="6257925"/>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5857875" y="2981325"/>
            <a:ext cx="2752725" cy="3495675"/>
          </a:xfrm>
          <a:prstGeom prst="rect">
            <a:avLst/>
          </a:prstGeom>
          <a:noFill/>
          <a:ln w="9525">
            <a:noFill/>
            <a:miter lim="800000"/>
            <a:headEnd/>
            <a:tailEnd/>
          </a:ln>
          <a:effectLst/>
        </p:spPr>
      </p:pic>
      <p:pic>
        <p:nvPicPr>
          <p:cNvPr id="5125" name="Picture 5"/>
          <p:cNvPicPr>
            <a:picLocks noChangeAspect="1" noChangeArrowheads="1"/>
          </p:cNvPicPr>
          <p:nvPr/>
        </p:nvPicPr>
        <p:blipFill>
          <a:blip r:embed="rId4"/>
          <a:srcRect/>
          <a:stretch>
            <a:fillRect/>
          </a:stretch>
        </p:blipFill>
        <p:spPr bwMode="auto">
          <a:xfrm>
            <a:off x="5867400" y="2971801"/>
            <a:ext cx="2743200" cy="3429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fade">
                                      <p:cBhvr>
                                        <p:cTn id="7" dur="20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25"/>
                                        </p:tgtEl>
                                        <p:attrNameLst>
                                          <p:attrName>style.visibility</p:attrName>
                                        </p:attrNameLst>
                                      </p:cBhvr>
                                      <p:to>
                                        <p:strVal val="visible"/>
                                      </p:to>
                                    </p:set>
                                    <p:animEffect transition="in" filter="fade">
                                      <p:cBhvr>
                                        <p:cTn id="17" dur="20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76200"/>
            <a:ext cx="8839200" cy="6555641"/>
          </a:xfrm>
          <a:prstGeom prst="rect">
            <a:avLst/>
          </a:prstGeom>
        </p:spPr>
        <p:txBody>
          <a:bodyPr wrap="square">
            <a:spAutoFit/>
          </a:bodyPr>
          <a:lstStyle/>
          <a:p>
            <a:pPr algn="just">
              <a:lnSpc>
                <a:spcPct val="150000"/>
              </a:lnSpc>
            </a:pPr>
            <a:r>
              <a:rPr lang="en-US" sz="2000" b="1" dirty="0" smtClean="0">
                <a:solidFill>
                  <a:srgbClr val="FF0000"/>
                </a:solidFill>
                <a:latin typeface="Bookman Old Style" pitchFamily="18" charset="0"/>
              </a:rPr>
              <a:t>Structured:</a:t>
            </a:r>
          </a:p>
          <a:p>
            <a:pPr algn="just">
              <a:lnSpc>
                <a:spcPct val="150000"/>
              </a:lnSpc>
            </a:pPr>
            <a:r>
              <a:rPr lang="en-US" sz="2000" b="1" dirty="0" smtClean="0">
                <a:latin typeface="Bookman Old Style" pitchFamily="18" charset="0"/>
              </a:rPr>
              <a:t>Structured data</a:t>
            </a:r>
            <a:r>
              <a:rPr lang="en-US" sz="2000" dirty="0" smtClean="0">
                <a:latin typeface="Bookman Old Style" pitchFamily="18" charset="0"/>
              </a:rPr>
              <a:t> refers to any data that resides in a fixed field within a record or file. This includes data contained in relational databases and spreadsheets.</a:t>
            </a:r>
          </a:p>
          <a:p>
            <a:pPr algn="just">
              <a:lnSpc>
                <a:spcPct val="150000"/>
              </a:lnSpc>
            </a:pPr>
            <a:r>
              <a:rPr lang="en-US" sz="2000" b="1" dirty="0" smtClean="0">
                <a:solidFill>
                  <a:srgbClr val="FF0000"/>
                </a:solidFill>
                <a:latin typeface="Bookman Old Style" pitchFamily="18" charset="0"/>
              </a:rPr>
              <a:t>Unstructured: </a:t>
            </a:r>
          </a:p>
          <a:p>
            <a:pPr algn="just">
              <a:lnSpc>
                <a:spcPct val="150000"/>
              </a:lnSpc>
            </a:pPr>
            <a:r>
              <a:rPr lang="en-US" sz="2000" b="1" dirty="0" smtClean="0">
                <a:latin typeface="Bookman Old Style" pitchFamily="18" charset="0"/>
              </a:rPr>
              <a:t>Unstructured data</a:t>
            </a:r>
            <a:r>
              <a:rPr lang="en-US" sz="2000" dirty="0" smtClean="0">
                <a:latin typeface="Bookman Old Style" pitchFamily="18" charset="0"/>
              </a:rPr>
              <a:t> (or </a:t>
            </a:r>
            <a:r>
              <a:rPr lang="en-US" sz="2000" b="1" dirty="0" smtClean="0">
                <a:latin typeface="Bookman Old Style" pitchFamily="18" charset="0"/>
              </a:rPr>
              <a:t>unstructured</a:t>
            </a:r>
            <a:r>
              <a:rPr lang="en-US" sz="2000" dirty="0" smtClean="0">
                <a:latin typeface="Bookman Old Style" pitchFamily="18" charset="0"/>
              </a:rPr>
              <a:t> information) is information that either does not have a pre-</a:t>
            </a:r>
            <a:r>
              <a:rPr lang="en-US" sz="2000" b="1" dirty="0" smtClean="0">
                <a:latin typeface="Bookman Old Style" pitchFamily="18" charset="0"/>
              </a:rPr>
              <a:t>defined data</a:t>
            </a:r>
            <a:r>
              <a:rPr lang="en-US" sz="2000" dirty="0" smtClean="0">
                <a:latin typeface="Bookman Old Style" pitchFamily="18" charset="0"/>
              </a:rPr>
              <a:t> model or is not organized in a pre-</a:t>
            </a:r>
            <a:r>
              <a:rPr lang="en-US" sz="2000" b="1" dirty="0" smtClean="0">
                <a:latin typeface="Bookman Old Style" pitchFamily="18" charset="0"/>
              </a:rPr>
              <a:t>defined</a:t>
            </a:r>
            <a:r>
              <a:rPr lang="en-US" sz="2000" dirty="0" smtClean="0">
                <a:latin typeface="Bookman Old Style" pitchFamily="18" charset="0"/>
              </a:rPr>
              <a:t> manner. </a:t>
            </a:r>
          </a:p>
          <a:p>
            <a:pPr algn="just">
              <a:lnSpc>
                <a:spcPct val="150000"/>
              </a:lnSpc>
            </a:pPr>
            <a:r>
              <a:rPr lang="en-US" sz="2000" b="1" dirty="0" smtClean="0">
                <a:latin typeface="Bookman Old Style" pitchFamily="18" charset="0"/>
              </a:rPr>
              <a:t>Unstructured data</a:t>
            </a:r>
            <a:r>
              <a:rPr lang="en-US" sz="2000" dirty="0" smtClean="0">
                <a:latin typeface="Bookman Old Style" pitchFamily="18" charset="0"/>
              </a:rPr>
              <a:t> files often include text and multimedia content. </a:t>
            </a:r>
            <a:r>
              <a:rPr lang="en-US" sz="2000" b="1" dirty="0" smtClean="0">
                <a:latin typeface="Bookman Old Style" pitchFamily="18" charset="0"/>
              </a:rPr>
              <a:t>Examples</a:t>
            </a:r>
            <a:r>
              <a:rPr lang="en-US" sz="2000" dirty="0" smtClean="0">
                <a:latin typeface="Bookman Old Style" pitchFamily="18" charset="0"/>
              </a:rPr>
              <a:t> include e-mail messages, word processing documents, videos, photos, audio files, etc..</a:t>
            </a:r>
          </a:p>
          <a:p>
            <a:pPr algn="just">
              <a:lnSpc>
                <a:spcPct val="150000"/>
              </a:lnSpc>
            </a:pPr>
            <a:r>
              <a:rPr lang="en-US" sz="2000" b="1" dirty="0" smtClean="0">
                <a:solidFill>
                  <a:srgbClr val="FF0000"/>
                </a:solidFill>
                <a:latin typeface="Bookman Old Style" pitchFamily="18" charset="0"/>
              </a:rPr>
              <a:t>Semi-structured:</a:t>
            </a:r>
            <a:r>
              <a:rPr lang="en-US" sz="2000" b="1" dirty="0" smtClean="0">
                <a:solidFill>
                  <a:srgbClr val="002060"/>
                </a:solidFill>
                <a:latin typeface="Bookman Old Style" pitchFamily="18" charset="0"/>
              </a:rPr>
              <a:t> </a:t>
            </a:r>
            <a:r>
              <a:rPr lang="en-US" sz="2000" b="1" dirty="0" smtClean="0">
                <a:latin typeface="Bookman Old Style" pitchFamily="18" charset="0"/>
              </a:rPr>
              <a:t>Semi structured </a:t>
            </a:r>
            <a:r>
              <a:rPr lang="en-US" sz="2000" dirty="0" smtClean="0">
                <a:latin typeface="Bookman Old Style" pitchFamily="18" charset="0"/>
              </a:rPr>
              <a:t>is the third type of big data. Semi-structured data pertains to the data containing both the formats mentioned above, that is, structured and unstructured data.</a:t>
            </a:r>
            <a:endParaRPr lang="en-US" sz="2000" dirty="0">
              <a:latin typeface="Bookman Old Style"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229600" cy="5078313"/>
          </a:xfrm>
          <a:prstGeom prst="rect">
            <a:avLst/>
          </a:prstGeom>
        </p:spPr>
        <p:txBody>
          <a:bodyPr wrap="square">
            <a:spAutoFit/>
          </a:bodyPr>
          <a:lstStyle/>
          <a:p>
            <a:pPr algn="just">
              <a:lnSpc>
                <a:spcPct val="150000"/>
              </a:lnSpc>
            </a:pPr>
            <a:r>
              <a:rPr lang="en-US" sz="2400" b="1" dirty="0" smtClean="0">
                <a:solidFill>
                  <a:srgbClr val="FF0000"/>
                </a:solidFill>
                <a:latin typeface="Bookman Old Style" pitchFamily="18" charset="0"/>
              </a:rPr>
              <a:t>Data management:</a:t>
            </a:r>
          </a:p>
          <a:p>
            <a:pPr algn="just">
              <a:lnSpc>
                <a:spcPct val="150000"/>
              </a:lnSpc>
            </a:pPr>
            <a:r>
              <a:rPr lang="en-US" sz="2400" b="1" dirty="0" smtClean="0">
                <a:latin typeface="Bookman Old Style" pitchFamily="18" charset="0"/>
              </a:rPr>
              <a:t>Data </a:t>
            </a:r>
            <a:r>
              <a:rPr lang="en-US" sz="2400" b="1" dirty="0" smtClean="0">
                <a:latin typeface="Bookman Old Style" pitchFamily="18" charset="0"/>
              </a:rPr>
              <a:t>management</a:t>
            </a:r>
            <a:r>
              <a:rPr lang="en-US" sz="2400" dirty="0" smtClean="0">
                <a:latin typeface="Bookman Old Style" pitchFamily="18" charset="0"/>
              </a:rPr>
              <a:t> is an administrative process that includes acquiring, validating, storing, protecting, and </a:t>
            </a:r>
            <a:r>
              <a:rPr lang="en-US" sz="2400" b="1" dirty="0" smtClean="0">
                <a:latin typeface="Bookman Old Style" pitchFamily="18" charset="0"/>
              </a:rPr>
              <a:t>processing</a:t>
            </a:r>
            <a:r>
              <a:rPr lang="en-US" sz="2400" dirty="0" smtClean="0">
                <a:latin typeface="Bookman Old Style" pitchFamily="18" charset="0"/>
              </a:rPr>
              <a:t> required </a:t>
            </a:r>
            <a:r>
              <a:rPr lang="en-US" sz="2400" b="1" dirty="0" smtClean="0">
                <a:latin typeface="Bookman Old Style" pitchFamily="18" charset="0"/>
              </a:rPr>
              <a:t>data</a:t>
            </a:r>
            <a:r>
              <a:rPr lang="en-US" sz="2400" dirty="0" smtClean="0">
                <a:latin typeface="Bookman Old Style" pitchFamily="18" charset="0"/>
              </a:rPr>
              <a:t> to ensure the accessibility, reliability, and timeliness of the </a:t>
            </a:r>
            <a:r>
              <a:rPr lang="en-US" sz="2400" b="1" dirty="0" smtClean="0">
                <a:latin typeface="Bookman Old Style" pitchFamily="18" charset="0"/>
              </a:rPr>
              <a:t>data</a:t>
            </a:r>
            <a:r>
              <a:rPr lang="en-US" sz="2400" dirty="0" smtClean="0">
                <a:latin typeface="Bookman Old Style" pitchFamily="18" charset="0"/>
              </a:rPr>
              <a:t> for its users. ... </a:t>
            </a:r>
          </a:p>
          <a:p>
            <a:pPr algn="just">
              <a:lnSpc>
                <a:spcPct val="150000"/>
              </a:lnSpc>
            </a:pPr>
            <a:endParaRPr lang="en-US" sz="2400" b="1" dirty="0" smtClean="0">
              <a:latin typeface="Bookman Old Style" pitchFamily="18" charset="0"/>
            </a:endParaRPr>
          </a:p>
          <a:p>
            <a:pPr algn="just">
              <a:lnSpc>
                <a:spcPct val="150000"/>
              </a:lnSpc>
            </a:pPr>
            <a:r>
              <a:rPr lang="en-US" sz="2400" b="1" dirty="0" smtClean="0">
                <a:latin typeface="Bookman Old Style" pitchFamily="18" charset="0"/>
              </a:rPr>
              <a:t>Data management</a:t>
            </a:r>
            <a:r>
              <a:rPr lang="en-US" sz="2400" dirty="0" smtClean="0">
                <a:latin typeface="Bookman Old Style" pitchFamily="18" charset="0"/>
              </a:rPr>
              <a:t> software is essential, as we are creating and consuming </a:t>
            </a:r>
            <a:r>
              <a:rPr lang="en-US" sz="2400" b="1" dirty="0" smtClean="0">
                <a:latin typeface="Bookman Old Style" pitchFamily="18" charset="0"/>
              </a:rPr>
              <a:t>data</a:t>
            </a:r>
            <a:r>
              <a:rPr lang="en-US" sz="2400" dirty="0" smtClean="0">
                <a:latin typeface="Bookman Old Style" pitchFamily="18" charset="0"/>
              </a:rPr>
              <a:t> at unprecedented rates.</a:t>
            </a:r>
            <a:endParaRPr lang="en-US" sz="2400" dirty="0">
              <a:latin typeface="Bookman Old Style"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left)">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57200" y="190500"/>
            <a:ext cx="8277225" cy="8763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381000" y="1590675"/>
            <a:ext cx="8610600" cy="14192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381000" y="3524250"/>
            <a:ext cx="8534400" cy="9715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390525" y="4991100"/>
            <a:ext cx="8372475" cy="4953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wipe(left)">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wipe(left)">
                                      <p:cBhvr>
                                        <p:cTn id="12" dur="500"/>
                                        <p:tgtEl>
                                          <p:spTgt spid="10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9"/>
                                        </p:tgtEl>
                                        <p:attrNameLst>
                                          <p:attrName>style.visibility</p:attrName>
                                        </p:attrNameLst>
                                      </p:cBhvr>
                                      <p:to>
                                        <p:strVal val="visible"/>
                                      </p:to>
                                    </p:set>
                                    <p:animEffect transition="in" filter="wipe(left)">
                                      <p:cBhvr>
                                        <p:cTn id="17"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485775" y="304800"/>
            <a:ext cx="8277225" cy="13716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85800" y="1981200"/>
            <a:ext cx="4371975" cy="54292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685800" y="2762250"/>
            <a:ext cx="5114925" cy="514350"/>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685800" y="3676650"/>
            <a:ext cx="6610350" cy="514350"/>
          </a:xfrm>
          <a:prstGeom prst="rect">
            <a:avLst/>
          </a:prstGeom>
          <a:noFill/>
          <a:ln w="9525">
            <a:noFill/>
            <a:miter lim="800000"/>
            <a:headEnd/>
            <a:tailEnd/>
          </a:ln>
          <a:effectLst/>
        </p:spPr>
      </p:pic>
      <p:pic>
        <p:nvPicPr>
          <p:cNvPr id="2054" name="Picture 6"/>
          <p:cNvPicPr>
            <a:picLocks noChangeAspect="1" noChangeArrowheads="1"/>
          </p:cNvPicPr>
          <p:nvPr/>
        </p:nvPicPr>
        <p:blipFill>
          <a:blip r:embed="rId6"/>
          <a:srcRect/>
          <a:stretch>
            <a:fillRect/>
          </a:stretch>
        </p:blipFill>
        <p:spPr bwMode="auto">
          <a:xfrm>
            <a:off x="685800" y="4695825"/>
            <a:ext cx="6172200" cy="1095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371600" y="76200"/>
            <a:ext cx="6905625" cy="6858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28625" y="1228725"/>
            <a:ext cx="8286750" cy="7524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447675" y="2286000"/>
            <a:ext cx="6105525" cy="400050"/>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471488" y="3028950"/>
            <a:ext cx="8201025" cy="800100"/>
          </a:xfrm>
          <a:prstGeom prst="rect">
            <a:avLst/>
          </a:prstGeom>
          <a:noFill/>
          <a:ln w="9525">
            <a:noFill/>
            <a:miter lim="800000"/>
            <a:headEnd/>
            <a:tailEnd/>
          </a:ln>
          <a:effectLst/>
        </p:spPr>
      </p:pic>
      <p:pic>
        <p:nvPicPr>
          <p:cNvPr id="3078" name="Picture 6"/>
          <p:cNvPicPr>
            <a:picLocks noChangeAspect="1" noChangeArrowheads="1"/>
          </p:cNvPicPr>
          <p:nvPr/>
        </p:nvPicPr>
        <p:blipFill>
          <a:blip r:embed="rId6"/>
          <a:srcRect/>
          <a:stretch>
            <a:fillRect/>
          </a:stretch>
        </p:blipFill>
        <p:spPr bwMode="auto">
          <a:xfrm>
            <a:off x="476250" y="4029075"/>
            <a:ext cx="8591550" cy="847725"/>
          </a:xfrm>
          <a:prstGeom prst="rect">
            <a:avLst/>
          </a:prstGeom>
          <a:noFill/>
          <a:ln w="9525">
            <a:noFill/>
            <a:miter lim="800000"/>
            <a:headEnd/>
            <a:tailEnd/>
          </a:ln>
          <a:effectLst/>
        </p:spPr>
      </p:pic>
      <p:pic>
        <p:nvPicPr>
          <p:cNvPr id="3079" name="Picture 7"/>
          <p:cNvPicPr>
            <a:picLocks noChangeAspect="1" noChangeArrowheads="1"/>
          </p:cNvPicPr>
          <p:nvPr/>
        </p:nvPicPr>
        <p:blipFill>
          <a:blip r:embed="rId7"/>
          <a:srcRect/>
          <a:stretch>
            <a:fillRect/>
          </a:stretch>
        </p:blipFill>
        <p:spPr bwMode="auto">
          <a:xfrm>
            <a:off x="457200" y="5200650"/>
            <a:ext cx="8629650" cy="12001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wipe(left)">
                                      <p:cBhvr>
                                        <p:cTn id="7" dur="10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wipe(left)">
                                      <p:cBhvr>
                                        <p:cTn id="12" dur="1000"/>
                                        <p:tgtEl>
                                          <p:spTgt spid="30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7"/>
                                        </p:tgtEl>
                                        <p:attrNameLst>
                                          <p:attrName>style.visibility</p:attrName>
                                        </p:attrNameLst>
                                      </p:cBhvr>
                                      <p:to>
                                        <p:strVal val="visible"/>
                                      </p:to>
                                    </p:set>
                                    <p:animEffect transition="in" filter="wipe(left)">
                                      <p:cBhvr>
                                        <p:cTn id="17" dur="1000"/>
                                        <p:tgtEl>
                                          <p:spTgt spid="30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8"/>
                                        </p:tgtEl>
                                        <p:attrNameLst>
                                          <p:attrName>style.visibility</p:attrName>
                                        </p:attrNameLst>
                                      </p:cBhvr>
                                      <p:to>
                                        <p:strVal val="visible"/>
                                      </p:to>
                                    </p:set>
                                    <p:animEffect transition="in" filter="wipe(left)">
                                      <p:cBhvr>
                                        <p:cTn id="22" dur="1000"/>
                                        <p:tgtEl>
                                          <p:spTgt spid="30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79"/>
                                        </p:tgtEl>
                                        <p:attrNameLst>
                                          <p:attrName>style.visibility</p:attrName>
                                        </p:attrNameLst>
                                      </p:cBhvr>
                                      <p:to>
                                        <p:strVal val="visible"/>
                                      </p:to>
                                    </p:set>
                                    <p:animEffect transition="in" filter="wipe(left)">
                                      <p:cBhvr>
                                        <p:cTn id="27" dur="10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38375" y="152401"/>
            <a:ext cx="4848225" cy="6096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57225" y="1400175"/>
            <a:ext cx="8258175" cy="17240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581025" y="3810000"/>
            <a:ext cx="8258175" cy="18002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wipe(left)">
                                      <p:cBhvr>
                                        <p:cTn id="7" dur="10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wipe(left)">
                                      <p:cBhvr>
                                        <p:cTn id="12"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190625" y="114300"/>
            <a:ext cx="7115175" cy="5715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504825" y="990600"/>
            <a:ext cx="8258175" cy="2033587"/>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476250" y="3400425"/>
            <a:ext cx="8286750" cy="7905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490538" y="4724400"/>
            <a:ext cx="8162925" cy="1600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left)">
                                      <p:cBhvr>
                                        <p:cTn id="7" dur="10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left)">
                                      <p:cBhvr>
                                        <p:cTn id="12" dur="10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gtEl>
                                        <p:attrNameLst>
                                          <p:attrName>style.visibility</p:attrName>
                                        </p:attrNameLst>
                                      </p:cBhvr>
                                      <p:to>
                                        <p:strVal val="visible"/>
                                      </p:to>
                                    </p:set>
                                    <p:animEffect transition="in" filter="wipe(left)">
                                      <p:cBhvr>
                                        <p:cTn id="17" dur="10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09685"/>
            <a:ext cx="8534400" cy="4524315"/>
          </a:xfrm>
          <a:prstGeom prst="rect">
            <a:avLst/>
          </a:prstGeom>
        </p:spPr>
        <p:txBody>
          <a:bodyPr wrap="square">
            <a:spAutoFit/>
          </a:bodyPr>
          <a:lstStyle/>
          <a:p>
            <a:pPr algn="just">
              <a:lnSpc>
                <a:spcPct val="150000"/>
              </a:lnSpc>
            </a:pPr>
            <a:r>
              <a:rPr lang="en-US" sz="2400" b="1" dirty="0" smtClean="0">
                <a:solidFill>
                  <a:srgbClr val="FF0000"/>
                </a:solidFill>
                <a:latin typeface="Bookman Old Style" pitchFamily="18" charset="0"/>
              </a:rPr>
              <a:t>Data mining, </a:t>
            </a:r>
            <a:r>
              <a:rPr lang="en-US" sz="2400" dirty="0" smtClean="0">
                <a:latin typeface="Bookman Old Style" pitchFamily="18" charset="0"/>
              </a:rPr>
              <a:t>also called knowledge discovery in databases, in computer science, the process of discovering interesting and useful patterns and relationships in large volumes of data. The field combines tools from statistics and artificial intelligence (such as neural networks and machine learning) with database management to analyze large digital collections, known as data sets.</a:t>
            </a:r>
            <a:endParaRPr lang="en-US" sz="2400" dirty="0">
              <a:latin typeface="Bookman Old Style"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627</TotalTime>
  <Words>329</Words>
  <Application>Microsoft Office PowerPoint</Application>
  <PresentationFormat>On-screen Show (4:3)</PresentationFormat>
  <Paragraphs>44</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Slide 2</vt:lpstr>
      <vt:lpstr>Slide 3</vt:lpstr>
      <vt:lpstr>Evolution of Database Technology</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 Krishna</dc:creator>
  <cp:lastModifiedBy>krishna Dheeravath</cp:lastModifiedBy>
  <cp:revision>22</cp:revision>
  <dcterms:created xsi:type="dcterms:W3CDTF">2006-08-16T00:00:00Z</dcterms:created>
  <dcterms:modified xsi:type="dcterms:W3CDTF">2021-09-15T05:31:18Z</dcterms:modified>
</cp:coreProperties>
</file>