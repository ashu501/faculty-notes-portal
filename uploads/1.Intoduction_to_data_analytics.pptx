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68" r:id="rId4"/>
    <p:sldId id="259" r:id="rId5"/>
    <p:sldId id="269" r:id="rId6"/>
    <p:sldId id="260" r:id="rId7"/>
    <p:sldId id="261" r:id="rId8"/>
    <p:sldId id="270" r:id="rId9"/>
    <p:sldId id="262" r:id="rId10"/>
    <p:sldId id="263" r:id="rId11"/>
    <p:sldId id="277" r:id="rId12"/>
    <p:sldId id="278" r:id="rId13"/>
    <p:sldId id="279" r:id="rId14"/>
    <p:sldId id="280" r:id="rId15"/>
    <p:sldId id="281" r:id="rId16"/>
    <p:sldId id="271" r:id="rId17"/>
    <p:sldId id="272" r:id="rId18"/>
    <p:sldId id="273" r:id="rId19"/>
    <p:sldId id="274" r:id="rId20"/>
    <p:sldId id="275" r:id="rId21"/>
    <p:sldId id="276" r:id="rId22"/>
    <p:sldId id="265" r:id="rId23"/>
    <p:sldId id="266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51114-6712-461F-A7A0-8CE8F2409495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556FE7-8C9B-4780-A971-370D10520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84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4D9EED-F7FB-47EA-B484-2462202C784F}" type="slidenum">
              <a:rPr lang="en-IN" smtClean="0"/>
              <a:pPr/>
              <a:t>18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4D9EED-F7FB-47EA-B484-2462202C784F}" type="slidenum">
              <a:rPr lang="en-IN" smtClean="0"/>
              <a:pPr/>
              <a:t>19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4D9EED-F7FB-47EA-B484-2462202C784F}" type="slidenum">
              <a:rPr lang="en-IN" smtClean="0"/>
              <a:pPr/>
              <a:t>20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4D9EED-F7FB-47EA-B484-2462202C784F}" type="slidenum">
              <a:rPr lang="en-IN" smtClean="0"/>
              <a:pPr/>
              <a:t>21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09B5-5B1D-46FA-A959-ACEDEC585186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7261-4AE3-4ADC-8358-E8E1CAB649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0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09B5-5B1D-46FA-A959-ACEDEC585186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7261-4AE3-4ADC-8358-E8E1CAB649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1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09B5-5B1D-46FA-A959-ACEDEC585186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7261-4AE3-4ADC-8358-E8E1CAB649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6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09B5-5B1D-46FA-A959-ACEDEC585186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7261-4AE3-4ADC-8358-E8E1CAB649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5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09B5-5B1D-46FA-A959-ACEDEC585186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7261-4AE3-4ADC-8358-E8E1CAB649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94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09B5-5B1D-46FA-A959-ACEDEC585186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7261-4AE3-4ADC-8358-E8E1CAB649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0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09B5-5B1D-46FA-A959-ACEDEC585186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7261-4AE3-4ADC-8358-E8E1CAB649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00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09B5-5B1D-46FA-A959-ACEDEC585186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7261-4AE3-4ADC-8358-E8E1CAB649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81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09B5-5B1D-46FA-A959-ACEDEC585186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7261-4AE3-4ADC-8358-E8E1CAB649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568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09B5-5B1D-46FA-A959-ACEDEC585186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7261-4AE3-4ADC-8358-E8E1CAB649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01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09B5-5B1D-46FA-A959-ACEDEC585186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7261-4AE3-4ADC-8358-E8E1CAB649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28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309B5-5B1D-46FA-A959-ACEDEC585186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07261-4AE3-4ADC-8358-E8E1CAB649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5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jpe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jpeg"/><Relationship Id="rId4" Type="http://schemas.openxmlformats.org/officeDocument/2006/relationships/image" Target="../media/image6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28600" y="1520547"/>
            <a:ext cx="868680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Bookman Old Style" pitchFamily="18" charset="0"/>
              </a:rPr>
              <a:t>UNIT - II</a:t>
            </a:r>
            <a:r>
              <a:rPr lang="en-US" sz="2800" dirty="0">
                <a:solidFill>
                  <a:srgbClr val="FF0000"/>
                </a:solidFill>
                <a:latin typeface="Bookman Old Style" pitchFamily="18" charset="0"/>
              </a:rPr>
              <a:t> </a:t>
            </a:r>
            <a:endParaRPr lang="en-US" sz="2800" dirty="0" smtClean="0">
              <a:solidFill>
                <a:srgbClr val="FF0000"/>
              </a:solidFill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itchFamily="18" charset="0"/>
              </a:rPr>
              <a:t>Data </a:t>
            </a:r>
            <a:r>
              <a:rPr lang="en-US" sz="2400" b="1" dirty="0">
                <a:latin typeface="Bookman Old Style" pitchFamily="18" charset="0"/>
              </a:rPr>
              <a:t>Analytics: </a:t>
            </a:r>
            <a:r>
              <a:rPr lang="en-US" sz="2400" dirty="0">
                <a:latin typeface="Bookman Old Style" pitchFamily="18" charset="0"/>
              </a:rPr>
              <a:t>Introduction to Analytics, Introduction to Tools and Environment, Application of Modeling in Business, Databases &amp; Types of Data and variables, Data Modeling Techniques, Missing Imputations etc. Need for Business Modeling. </a:t>
            </a:r>
          </a:p>
        </p:txBody>
      </p:sp>
    </p:spTree>
    <p:extLst>
      <p:ext uri="{BB962C8B-B14F-4D97-AF65-F5344CB8AC3E}">
        <p14:creationId xmlns:p14="http://schemas.microsoft.com/office/powerpoint/2010/main" val="277035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04938"/>
            <a:ext cx="8672755" cy="3624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496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14399"/>
            <a:ext cx="9144000" cy="502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600199"/>
            <a:ext cx="9144000" cy="4317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66800"/>
            <a:ext cx="6553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905000"/>
            <a:ext cx="34290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2" y="1752600"/>
            <a:ext cx="538307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43200"/>
            <a:ext cx="5257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3810000"/>
            <a:ext cx="533400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819478"/>
            <a:ext cx="5334000" cy="1047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279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990600"/>
            <a:ext cx="89916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487" y="2057400"/>
            <a:ext cx="8901113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3552825"/>
            <a:ext cx="8796338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2400" y="4686300"/>
            <a:ext cx="88392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66254" y="838200"/>
            <a:ext cx="8825346" cy="5424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300" b="1" dirty="0" smtClean="0">
                <a:solidFill>
                  <a:srgbClr val="FF0000"/>
                </a:solidFill>
                <a:latin typeface="Bookman Old Style" pitchFamily="18" charset="0"/>
              </a:rPr>
              <a:t>Data Analytics: </a:t>
            </a:r>
          </a:p>
          <a:p>
            <a:pPr algn="just">
              <a:lnSpc>
                <a:spcPct val="150000"/>
              </a:lnSpc>
            </a:pPr>
            <a:r>
              <a:rPr lang="en-US" sz="2200" dirty="0" smtClean="0">
                <a:latin typeface="Bookman Old Style" pitchFamily="18" charset="0"/>
              </a:rPr>
              <a:t>It is the Analysis of data, typically larger sets of data, by the use of mathematics, statistics, and computer software.					- </a:t>
            </a:r>
            <a:r>
              <a:rPr lang="en-US" sz="2200" b="1" dirty="0" smtClean="0">
                <a:solidFill>
                  <a:srgbClr val="00B0F0"/>
                </a:solidFill>
                <a:latin typeface="Bookman Old Style" pitchFamily="18" charset="0"/>
              </a:rPr>
              <a:t>Niall </a:t>
            </a:r>
            <a:r>
              <a:rPr lang="en-US" sz="2200" b="1" dirty="0" err="1" smtClean="0">
                <a:solidFill>
                  <a:srgbClr val="00B0F0"/>
                </a:solidFill>
                <a:latin typeface="Bookman Old Style" pitchFamily="18" charset="0"/>
              </a:rPr>
              <a:t>sclater</a:t>
            </a:r>
            <a:endParaRPr lang="en-US" sz="2200" b="1" dirty="0" smtClean="0">
              <a:solidFill>
                <a:srgbClr val="00B0F0"/>
              </a:solidFill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200" b="1" dirty="0">
              <a:solidFill>
                <a:srgbClr val="00B0F0"/>
              </a:solidFill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 smtClean="0">
                <a:solidFill>
                  <a:srgbClr val="FF0000"/>
                </a:solidFill>
                <a:latin typeface="Bookman Old Style" pitchFamily="18" charset="0"/>
              </a:rPr>
              <a:t>Analytics</a:t>
            </a:r>
            <a:r>
              <a:rPr lang="en-US" sz="2200" dirty="0" smtClean="0">
                <a:latin typeface="Bookman Old Style" pitchFamily="18" charset="0"/>
              </a:rPr>
              <a:t> is the science of using data to build a models that lead to better </a:t>
            </a:r>
            <a:r>
              <a:rPr lang="en-US" sz="2200" b="1" dirty="0" smtClean="0">
                <a:solidFill>
                  <a:srgbClr val="00B050"/>
                </a:solidFill>
                <a:latin typeface="Bookman Old Style" pitchFamily="18" charset="0"/>
              </a:rPr>
              <a:t>decision</a:t>
            </a:r>
            <a:r>
              <a:rPr lang="en-US" sz="2200" dirty="0" smtClean="0">
                <a:latin typeface="Bookman Old Style" pitchFamily="18" charset="0"/>
              </a:rPr>
              <a:t> that in turn add value to individuals, companies and institutions.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itchFamily="18" charset="0"/>
              </a:rPr>
              <a:t>	</a:t>
            </a:r>
            <a:r>
              <a:rPr lang="en-US" sz="2200" dirty="0" smtClean="0">
                <a:latin typeface="Bookman Old Style" pitchFamily="18" charset="0"/>
              </a:rPr>
              <a:t>			- </a:t>
            </a:r>
            <a:r>
              <a:rPr lang="en-US" sz="2200" b="1" dirty="0" err="1" smtClean="0">
                <a:solidFill>
                  <a:srgbClr val="00B0F0"/>
                </a:solidFill>
                <a:latin typeface="Bookman Old Style" pitchFamily="18" charset="0"/>
              </a:rPr>
              <a:t>Dimitris</a:t>
            </a:r>
            <a:r>
              <a:rPr lang="en-US" sz="2200" b="1" dirty="0" smtClean="0">
                <a:solidFill>
                  <a:srgbClr val="00B0F0"/>
                </a:solidFill>
                <a:latin typeface="Bookman Old Style" pitchFamily="18" charset="0"/>
              </a:rPr>
              <a:t> Bertsimas</a:t>
            </a:r>
            <a:endParaRPr lang="en-US" sz="2200" b="1" dirty="0">
              <a:solidFill>
                <a:srgbClr val="00B0F0"/>
              </a:solidFill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2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02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1" y="1076325"/>
            <a:ext cx="4952999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08858" y="1581834"/>
            <a:ext cx="880654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 smtClean="0">
                <a:solidFill>
                  <a:srgbClr val="FF0000"/>
                </a:solidFill>
                <a:latin typeface="Bookman Old Style" pitchFamily="18" charset="0"/>
              </a:rPr>
              <a:t>Data Analytics </a:t>
            </a:r>
            <a:r>
              <a:rPr lang="en-US" sz="2200" dirty="0" smtClean="0">
                <a:latin typeface="Bookman Old Style" pitchFamily="18" charset="0"/>
              </a:rPr>
              <a:t>refers to the techniques to analyze data to enhance productivity and business gain</a:t>
            </a:r>
            <a:endParaRPr lang="en-US" sz="2200" dirty="0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81238"/>
            <a:ext cx="4051601" cy="3433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58" y="2476500"/>
            <a:ext cx="4844142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2590800"/>
            <a:ext cx="1981201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048000"/>
            <a:ext cx="333375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2590800"/>
            <a:ext cx="2133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3733800"/>
            <a:ext cx="4191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195762"/>
            <a:ext cx="2272415" cy="1214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512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7600" y="990599"/>
            <a:ext cx="5198604" cy="1537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675" y="228600"/>
            <a:ext cx="345684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72382" y="2895600"/>
            <a:ext cx="2018818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248400" y="2971800"/>
            <a:ext cx="1905000" cy="1942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6675" y="1857375"/>
            <a:ext cx="359092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66800"/>
            <a:ext cx="466121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648200"/>
            <a:ext cx="2500539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38400"/>
            <a:ext cx="2438400" cy="1654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429000"/>
            <a:ext cx="1028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648200"/>
            <a:ext cx="2362200" cy="74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2286000"/>
            <a:ext cx="2552700" cy="2341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775" y="3400425"/>
            <a:ext cx="96202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850" y="2057400"/>
            <a:ext cx="1733550" cy="2438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572000"/>
            <a:ext cx="231774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127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28699"/>
            <a:ext cx="2971800" cy="406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4917528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1905000" cy="189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238" y="1866899"/>
            <a:ext cx="1957388" cy="18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762375"/>
            <a:ext cx="2500984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876800"/>
            <a:ext cx="1762125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443135"/>
            <a:ext cx="3286125" cy="3433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762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69572"/>
            <a:ext cx="1828800" cy="592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" y="1066800"/>
            <a:ext cx="8915400" cy="55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57400" y="1905000"/>
            <a:ext cx="5067300" cy="3406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228600"/>
            <a:ext cx="375138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14799" y="304800"/>
            <a:ext cx="363793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1066800"/>
            <a:ext cx="9144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2133600"/>
            <a:ext cx="91440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228600"/>
            <a:ext cx="375138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62400" y="304800"/>
            <a:ext cx="341811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990600"/>
            <a:ext cx="9144000" cy="690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2133600"/>
            <a:ext cx="9144000" cy="3069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085" y="228600"/>
            <a:ext cx="531091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295400"/>
            <a:ext cx="4562338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32017" y="1371600"/>
            <a:ext cx="4435783" cy="4038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228600"/>
            <a:ext cx="3729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066800"/>
            <a:ext cx="9144000" cy="59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26288" y="1720510"/>
            <a:ext cx="2006734" cy="2088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661144" y="1676400"/>
            <a:ext cx="2055678" cy="2104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353577" y="1679943"/>
            <a:ext cx="2104624" cy="2055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056327" y="3820733"/>
            <a:ext cx="2302098" cy="2125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181600" y="3717701"/>
            <a:ext cx="2286000" cy="2221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" y="914400"/>
            <a:ext cx="9144001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990600"/>
            <a:ext cx="6600826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228600"/>
            <a:ext cx="565626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228600"/>
            <a:ext cx="565626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05200" y="5068793"/>
            <a:ext cx="2047873" cy="650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53324" y="1066800"/>
            <a:ext cx="6695276" cy="406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228600"/>
            <a:ext cx="565626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0" y="990600"/>
            <a:ext cx="6400800" cy="4880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228600"/>
            <a:ext cx="565626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00200" y="990600"/>
            <a:ext cx="6332416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228600"/>
            <a:ext cx="565626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43000" y="990600"/>
            <a:ext cx="6611684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3419832"/>
            <a:ext cx="8382000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200" b="1" dirty="0" smtClean="0">
                <a:latin typeface="Bookman Old Style" pitchFamily="18" charset="0"/>
              </a:rPr>
              <a:t>Descriptive analytics: </a:t>
            </a:r>
            <a:r>
              <a:rPr lang="en-US" sz="2200" dirty="0" smtClean="0">
                <a:latin typeface="Bookman Old Style" pitchFamily="18" charset="0"/>
              </a:rPr>
              <a:t>It </a:t>
            </a:r>
            <a:r>
              <a:rPr lang="en-US" sz="2200" dirty="0">
                <a:latin typeface="Bookman Old Style" pitchFamily="18" charset="0"/>
              </a:rPr>
              <a:t>analytics answers </a:t>
            </a:r>
            <a:r>
              <a:rPr lang="en-US" sz="2200" dirty="0" smtClean="0">
                <a:latin typeface="Bookman Old Style" pitchFamily="18" charset="0"/>
              </a:rPr>
              <a:t>the question </a:t>
            </a:r>
            <a:r>
              <a:rPr lang="en-US" sz="2200" dirty="0">
                <a:latin typeface="Bookman Old Style" pitchFamily="18" charset="0"/>
              </a:rPr>
              <a:t>of what happened.</a:t>
            </a:r>
            <a:endParaRPr lang="en-US" sz="2200" b="1" dirty="0" smtClean="0">
              <a:latin typeface="Bookman Old Style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b="1" dirty="0">
                <a:latin typeface="Bookman Old Style" pitchFamily="18" charset="0"/>
              </a:rPr>
              <a:t>Predictive </a:t>
            </a:r>
            <a:r>
              <a:rPr lang="en-US" sz="2200" b="1" dirty="0" smtClean="0">
                <a:latin typeface="Bookman Old Style" pitchFamily="18" charset="0"/>
              </a:rPr>
              <a:t>analytics: </a:t>
            </a:r>
            <a:r>
              <a:rPr lang="en-US" sz="2200" dirty="0" smtClean="0">
                <a:latin typeface="Bookman Old Style" pitchFamily="18" charset="0"/>
              </a:rPr>
              <a:t>It</a:t>
            </a:r>
            <a:r>
              <a:rPr lang="en-US" sz="2200" b="1" dirty="0" smtClean="0">
                <a:latin typeface="Bookman Old Style" pitchFamily="18" charset="0"/>
              </a:rPr>
              <a:t> </a:t>
            </a:r>
            <a:r>
              <a:rPr lang="en-US" sz="2200" dirty="0">
                <a:latin typeface="Bookman Old Style" pitchFamily="18" charset="0"/>
              </a:rPr>
              <a:t>tells what is likely to </a:t>
            </a:r>
            <a:r>
              <a:rPr lang="en-US" sz="2200" dirty="0" smtClean="0">
                <a:latin typeface="Bookman Old Style" pitchFamily="18" charset="0"/>
              </a:rPr>
              <a:t>happen</a:t>
            </a:r>
          </a:p>
          <a:p>
            <a:pPr>
              <a:lnSpc>
                <a:spcPct val="150000"/>
              </a:lnSpc>
            </a:pPr>
            <a:endParaRPr lang="en-US" sz="1000" b="1" dirty="0" smtClean="0">
              <a:latin typeface="Bookman Old Style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200" b="1" dirty="0">
                <a:latin typeface="Bookman Old Style" pitchFamily="18" charset="0"/>
              </a:rPr>
              <a:t>Prescriptive </a:t>
            </a:r>
            <a:r>
              <a:rPr lang="en-US" sz="2200" b="1" dirty="0" smtClean="0">
                <a:latin typeface="Bookman Old Style" pitchFamily="18" charset="0"/>
              </a:rPr>
              <a:t>analytics: </a:t>
            </a:r>
            <a:r>
              <a:rPr lang="en-US" sz="2200" dirty="0" smtClean="0">
                <a:latin typeface="Bookman Old Style" pitchFamily="18" charset="0"/>
              </a:rPr>
              <a:t>It </a:t>
            </a:r>
            <a:r>
              <a:rPr lang="en-US" sz="2200" dirty="0">
                <a:latin typeface="Bookman Old Style" pitchFamily="18" charset="0"/>
              </a:rPr>
              <a:t>is to literally prescribe what action to take to eliminate a future problem or take full advantage of a promising trend.</a:t>
            </a:r>
            <a:endParaRPr lang="en-US" sz="2200" b="1" dirty="0">
              <a:latin typeface="Bookman Old Style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113" y="685800"/>
            <a:ext cx="8819287" cy="2827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solidFill>
                  <a:srgbClr val="FF0000"/>
                </a:solidFill>
                <a:latin typeface="Bookman Old Style" pitchFamily="18" charset="0"/>
              </a:rPr>
              <a:t>Types of data </a:t>
            </a:r>
            <a:r>
              <a:rPr lang="en-US" sz="3000" b="1" dirty="0" smtClean="0">
                <a:solidFill>
                  <a:srgbClr val="FF0000"/>
                </a:solidFill>
                <a:latin typeface="Bookman Old Style" pitchFamily="18" charset="0"/>
              </a:rPr>
              <a:t>analytics:</a:t>
            </a:r>
            <a:r>
              <a:rPr lang="en-US" sz="2200" b="1" dirty="0" smtClean="0">
                <a:solidFill>
                  <a:srgbClr val="FF0000"/>
                </a:solidFill>
                <a:latin typeface="Bookman Old Style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200" dirty="0" smtClean="0">
                <a:latin typeface="Bookman Old Style" pitchFamily="18" charset="0"/>
              </a:rPr>
              <a:t>There </a:t>
            </a:r>
            <a:r>
              <a:rPr lang="en-US" sz="2200" dirty="0">
                <a:latin typeface="Bookman Old Style" pitchFamily="18" charset="0"/>
              </a:rPr>
              <a:t>are </a:t>
            </a:r>
            <a:r>
              <a:rPr lang="en-US" sz="2200" dirty="0" smtClean="0">
                <a:latin typeface="Bookman Old Style" pitchFamily="18" charset="0"/>
              </a:rPr>
              <a:t>3 </a:t>
            </a:r>
            <a:r>
              <a:rPr lang="en-US" sz="2200" dirty="0">
                <a:latin typeface="Bookman Old Style" pitchFamily="18" charset="0"/>
              </a:rPr>
              <a:t>different types of </a:t>
            </a:r>
            <a:r>
              <a:rPr lang="en-US" sz="2200" dirty="0" smtClean="0">
                <a:latin typeface="Bookman Old Style" pitchFamily="18" charset="0"/>
              </a:rPr>
              <a:t>analytics. Here</a:t>
            </a:r>
            <a:r>
              <a:rPr lang="en-US" sz="2200" dirty="0">
                <a:latin typeface="Bookman Old Style" pitchFamily="18" charset="0"/>
              </a:rPr>
              <a:t>, we start with the simplest one and </a:t>
            </a:r>
            <a:r>
              <a:rPr lang="en-US" sz="2200" dirty="0" smtClean="0">
                <a:latin typeface="Bookman Old Style" pitchFamily="18" charset="0"/>
              </a:rPr>
              <a:t> go </a:t>
            </a:r>
            <a:r>
              <a:rPr lang="en-US" sz="2200" dirty="0">
                <a:latin typeface="Bookman Old Style" pitchFamily="18" charset="0"/>
              </a:rPr>
              <a:t>further to the more sophisticated types. </a:t>
            </a:r>
            <a:r>
              <a:rPr lang="en-US" sz="2200" dirty="0" smtClean="0">
                <a:latin typeface="Bookman Old Style" pitchFamily="18" charset="0"/>
              </a:rPr>
              <a:t> As </a:t>
            </a:r>
            <a:r>
              <a:rPr lang="en-US" sz="2200" dirty="0">
                <a:latin typeface="Bookman Old Style" pitchFamily="18" charset="0"/>
              </a:rPr>
              <a:t>it happens, the more complex an analysis is, </a:t>
            </a:r>
            <a:r>
              <a:rPr lang="en-US" sz="2200" dirty="0" smtClean="0">
                <a:latin typeface="Bookman Old Style" pitchFamily="18" charset="0"/>
              </a:rPr>
              <a:t> the </a:t>
            </a:r>
            <a:r>
              <a:rPr lang="en-US" sz="2200" dirty="0">
                <a:latin typeface="Bookman Old Style" pitchFamily="18" charset="0"/>
              </a:rPr>
              <a:t>more value it brings.</a:t>
            </a:r>
            <a:endParaRPr lang="en-US" sz="2200" b="1" dirty="0"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97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90600"/>
            <a:ext cx="4976812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605087"/>
            <a:ext cx="5929312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343400"/>
            <a:ext cx="4876800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837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146</Words>
  <Application>Microsoft Office PowerPoint</Application>
  <PresentationFormat>On-screen Show (4:3)</PresentationFormat>
  <Paragraphs>18</Paragraphs>
  <Slides>23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</cp:lastModifiedBy>
  <cp:revision>8</cp:revision>
  <dcterms:created xsi:type="dcterms:W3CDTF">2020-09-24T20:01:39Z</dcterms:created>
  <dcterms:modified xsi:type="dcterms:W3CDTF">2025-08-21T08:54:22Z</dcterms:modified>
</cp:coreProperties>
</file>